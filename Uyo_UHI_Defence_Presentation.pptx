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youhi-iayygetbmnholngdvqjmdv.streamlit.ap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65D"/>
          </a:solidFill>
          <a:ln>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362895" cy="2011680"/>
          </a:xfrm>
          <a:prstGeom prst="rect">
            <a:avLst/>
          </a:prstGeom>
          <a:noFill/>
        </p:spPr>
        <p:txBody>
          <a:bodyPr wrap="square">
            <a:spAutoFit/>
          </a:bodyPr>
          <a:lstStyle/>
          <a:p>
            <a:pPr>
              <a:defRPr sz="3000" b="1">
                <a:solidFill>
                  <a:srgbClr val="FFFFFF"/>
                </a:solidFill>
              </a:defRPr>
            </a:pPr>
            <a:r>
              <a:t>End-to-End Geospatial Data Analysis of Urban Heat Island Dynamics in Uyo LGA</a:t>
            </a:r>
          </a:p>
          <a:p>
            <a:pPr>
              <a:defRPr sz="1800">
                <a:solidFill>
                  <a:srgbClr val="FFB74D"/>
                </a:solidFill>
              </a:defRPr>
            </a:pPr>
            <a:r>
              <a:t>A Decadal Multi-Temporal Remote Sensing Framework (2016–2025)</a:t>
            </a:r>
          </a:p>
        </p:txBody>
      </p:sp>
      <p:sp>
        <p:nvSpPr>
          <p:cNvPr id="4" name="TextBox 3"/>
          <p:cNvSpPr txBox="1"/>
          <p:nvPr/>
        </p:nvSpPr>
        <p:spPr>
          <a:xfrm>
            <a:off x="914400" y="3657600"/>
            <a:ext cx="10362895" cy="2560320"/>
          </a:xfrm>
          <a:prstGeom prst="rect">
            <a:avLst/>
          </a:prstGeom>
          <a:noFill/>
        </p:spPr>
        <p:txBody>
          <a:bodyPr wrap="square">
            <a:spAutoFit/>
          </a:bodyPr>
          <a:lstStyle/>
          <a:p/>
          <a:p>
            <a:pPr>
              <a:defRPr sz="1300">
                <a:solidFill>
                  <a:srgbClr val="DCE6F2"/>
                </a:solidFill>
              </a:defRPr>
            </a:pPr>
            <a:r>
              <a:t>Department: Department of Computer Science</a:t>
            </a:r>
          </a:p>
          <a:p>
            <a:pPr>
              <a:defRPr sz="1300">
                <a:solidFill>
                  <a:srgbClr val="DCE6F2"/>
                </a:solidFill>
              </a:defRPr>
            </a:pPr>
            <a:r>
              <a:t>Host Organization: Advanced Space Technology And Applications Laboratories, Uyo, Akwa Ibom State</a:t>
            </a:r>
          </a:p>
          <a:p>
            <a:pPr>
              <a:defRPr sz="1300">
                <a:solidFill>
                  <a:srgbClr val="DCE6F2"/>
                </a:solidFill>
              </a:defRPr>
            </a:pPr>
            <a:r>
              <a:t>Project Type: Industrial Training (IT) Defence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Abstract, Dedication &amp; Acknowledgements</a:t>
            </a:r>
          </a:p>
          <a:p>
            <a:pPr>
              <a:defRPr sz="1000" b="1">
                <a:solidFill>
                  <a:srgbClr val="D95F02"/>
                </a:solidFill>
              </a:defRPr>
            </a:pPr>
            <a:r>
              <a:t>ACADEMIC PRELIMINARIES</a:t>
            </a:r>
          </a:p>
        </p:txBody>
      </p:sp>
      <p:sp>
        <p:nvSpPr>
          <p:cNvPr id="4" name="TextBox 3"/>
          <p:cNvSpPr txBox="1"/>
          <p:nvPr/>
        </p:nvSpPr>
        <p:spPr>
          <a:xfrm>
            <a:off x="731520" y="1188720"/>
            <a:ext cx="10698480" cy="5303520"/>
          </a:xfrm>
          <a:prstGeom prst="rect">
            <a:avLst/>
          </a:prstGeom>
          <a:noFill/>
        </p:spPr>
        <p:txBody>
          <a:bodyPr wrap="square">
            <a:spAutoFit/>
          </a:bodyPr>
          <a:lstStyle/>
          <a:p>
            <a:pPr>
              <a:defRPr sz="1600" b="1">
                <a:solidFill>
                  <a:srgbClr val="1B365D"/>
                </a:solidFill>
              </a:defRPr>
            </a:pPr>
            <a:r>
              <a:t>Abstract</a:t>
            </a:r>
          </a:p>
          <a:p>
            <a:pPr>
              <a:defRPr sz="1200"/>
            </a:pPr>
            <a:r>
              <a:t>Rapid urbanization in Uyo Local Government Area has accelerated the replacement of natural vegetation with impervious surfaces. This framework utilizes Landsat 8/9 satellite remote sensing across a 9-year decadal window (2016–2025) to quantify the Surface Urban Heat Island (SUHI) effect. By computing NDVI, NDBI, MNDWI, and LST, this study models microclimate heating and cooling dynamics and delivers results via an interactive web dashboard.</a:t>
            </a:r>
          </a:p>
          <a:p>
            <a:br/>
            <a:pPr>
              <a:defRPr sz="1600" b="1">
                <a:solidFill>
                  <a:srgbClr val="1B365D"/>
                </a:solidFill>
              </a:defRPr>
            </a:pPr>
            <a:r>
              <a:t>Dedication</a:t>
            </a:r>
          </a:p>
          <a:p>
            <a:pPr>
              <a:defRPr sz="1200"/>
            </a:pPr>
            <a:r>
              <a:t>Dedicated to sustainable, data-driven urban planning in Nigeria and to every young analyst learning to turn satellite observations into actionable environmental protection decisions.</a:t>
            </a:r>
          </a:p>
          <a:p>
            <a:br/>
            <a:pPr>
              <a:defRPr sz="1600" b="1">
                <a:solidFill>
                  <a:srgbClr val="1B365D"/>
                </a:solidFill>
              </a:defRPr>
            </a:pPr>
            <a:r>
              <a:t>Acknowledgements</a:t>
            </a:r>
          </a:p>
          <a:p>
            <a:pPr>
              <a:defRPr sz="1200"/>
            </a:pPr>
            <a:r>
              <a:t>I appreciate my academic supervisors and the Department of Computer Science for guidance. Special thanks go to the board of management and staff of Advanced Space Technology And Applications Laboratories, Uyo, Akwa Ibom State, for the placement opportunity and mentorship.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Project Introduction &amp; Research Framing</a:t>
            </a:r>
          </a:p>
          <a:p>
            <a:pPr>
              <a:defRPr sz="1000" b="1">
                <a:solidFill>
                  <a:srgbClr val="D95F02"/>
                </a:solidFill>
              </a:defRPr>
            </a:pPr>
            <a:r>
              <a:t>PROJECT FOUNDATION</a:t>
            </a:r>
          </a:p>
        </p:txBody>
      </p:sp>
      <p:sp>
        <p:nvSpPr>
          <p:cNvPr id="4" name="TextBox 3"/>
          <p:cNvSpPr txBox="1"/>
          <p:nvPr/>
        </p:nvSpPr>
        <p:spPr>
          <a:xfrm>
            <a:off x="731520" y="1188720"/>
            <a:ext cx="10698480" cy="5303520"/>
          </a:xfrm>
          <a:prstGeom prst="rect">
            <a:avLst/>
          </a:prstGeom>
          <a:noFill/>
        </p:spPr>
        <p:txBody>
          <a:bodyPr wrap="square">
            <a:spAutoFit/>
          </a:bodyPr>
          <a:lstStyle/>
          <a:p>
            <a:pPr>
              <a:defRPr sz="1600" b="1">
                <a:solidFill>
                  <a:srgbClr val="1B365D"/>
                </a:solidFill>
              </a:defRPr>
            </a:pPr>
            <a:r>
              <a:t>Project Aim</a:t>
            </a:r>
          </a:p>
          <a:p>
            <a:pPr>
              <a:defRPr sz="1200"/>
            </a:pPr>
            <a:r>
              <a:t>To develop a reproducible Python-based geospatial analytics framework that quantifies Surface Urban Heat Island patterns in Uyo LGA using Landsat 8/9 Level-2 data, and delivers results through an interactive web application.</a:t>
            </a:r>
          </a:p>
          <a:p>
            <a:br/>
            <a:pPr>
              <a:defRPr sz="1600" b="1">
                <a:solidFill>
                  <a:srgbClr val="1B365D"/>
                </a:solidFill>
              </a:defRPr>
            </a:pPr>
            <a:r>
              <a:t>Research Questions</a:t>
            </a:r>
          </a:p>
          <a:p>
            <a:pPr>
              <a:defRPr sz="1200"/>
            </a:pPr>
            <a:r>
              <a:t>1. What is the spatial pattern and intensity of daytime land surface temperature across Uyo LGA?</a:t>
            </a:r>
            <a:br/>
            <a:r>
              <a:t>2. How have vegetation canopy (NDVI) and built-up density (NDBI) signals shifted across epochs (2016–2025)?</a:t>
            </a:r>
            <a:br/>
            <a:r>
              <a:t>3. How strongly do vegetation density and impervious surfaces explain microclimate temperature variation?</a:t>
            </a:r>
            <a:br/>
            <a:r>
              <a:t>4. How can satellite data products be deployed into interactive tools for decision-makers?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Industrial Training &amp; Computer Science Relevance</a:t>
            </a:r>
          </a:p>
          <a:p>
            <a:pPr>
              <a:defRPr sz="1000" b="1">
                <a:solidFill>
                  <a:srgbClr val="D95F02"/>
                </a:solidFill>
              </a:defRPr>
            </a:pPr>
            <a:r>
              <a:t>HOST ALIGNMENT</a:t>
            </a:r>
          </a:p>
        </p:txBody>
      </p:sp>
      <p:sp>
        <p:nvSpPr>
          <p:cNvPr id="4" name="TextBox 3"/>
          <p:cNvSpPr txBox="1"/>
          <p:nvPr/>
        </p:nvSpPr>
        <p:spPr>
          <a:xfrm>
            <a:off x="731520" y="1188720"/>
            <a:ext cx="10698480" cy="5303520"/>
          </a:xfrm>
          <a:prstGeom prst="rect">
            <a:avLst/>
          </a:prstGeom>
          <a:noFill/>
        </p:spPr>
        <p:txBody>
          <a:bodyPr wrap="square">
            <a:spAutoFit/>
          </a:bodyPr>
          <a:lstStyle/>
          <a:p>
            <a:pPr>
              <a:defRPr sz="1600" b="1">
                <a:solidFill>
                  <a:srgbClr val="1B365D"/>
                </a:solidFill>
              </a:defRPr>
            </a:pPr>
            <a:r>
              <a:t>Host Organization Alignment</a:t>
            </a:r>
          </a:p>
          <a:p>
            <a:pPr>
              <a:defRPr sz="1200"/>
            </a:pPr>
            <a:r>
              <a:t>• Carried out at Advanced Space Technology And Applications Laboratories, Uyo, Akwa Ibom State.</a:t>
            </a:r>
            <a:br/>
            <a:r>
              <a:t>• Aligns directly with operational Earth Observation (EO) and Geospatial Information Systems (GIS) workflows.</a:t>
            </a:r>
          </a:p>
          <a:p>
            <a:br/>
            <a:pPr>
              <a:defRPr sz="1600" b="1">
                <a:solidFill>
                  <a:srgbClr val="1B365D"/>
                </a:solidFill>
              </a:defRPr>
            </a:pPr>
            <a:r>
              <a:t>Computer Science &amp; Software Engineering Contribution</a:t>
            </a:r>
          </a:p>
          <a:p>
            <a:pPr>
              <a:defRPr sz="1200"/>
            </a:pPr>
            <a:r>
              <a:t>• Automated Framework vs Manual GIS: Replaces non-reproducible manual software clicks with a 100% automated Python data framework.</a:t>
            </a:r>
            <a:br/>
            <a:r>
              <a:t>• Open-Source Ecosystem: Built entirely with Python (Rasterio, GeoPandas, PySTAC, Plotly, Streamlit), eliminating expensive software licensing bottlenecks.</a:t>
            </a:r>
            <a:br/>
            <a:r>
              <a:t>• Cloud Deployment: End-to-end integration from Google Colab cloud processing to VS Code local execution and 24/7 Streamlit Cloud hosting.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Study Area Boundary &amp; Dataset Specifications</a:t>
            </a:r>
          </a:p>
          <a:p>
            <a:pPr>
              <a:defRPr sz="1000" b="1">
                <a:solidFill>
                  <a:srgbClr val="D95F02"/>
                </a:solidFill>
              </a:defRPr>
            </a:pPr>
            <a:r>
              <a:t>DATA FRAMEWORK</a:t>
            </a:r>
          </a:p>
        </p:txBody>
      </p:sp>
      <p:pic>
        <p:nvPicPr>
          <p:cNvPr id="4" name="Picture 3" descr="uyo_boundary.png"/>
          <p:cNvPicPr>
            <a:picLocks noChangeAspect="1"/>
          </p:cNvPicPr>
          <p:nvPr/>
        </p:nvPicPr>
        <p:blipFill>
          <a:blip r:embed="rId2"/>
          <a:stretch>
            <a:fillRect/>
          </a:stretch>
        </p:blipFill>
        <p:spPr>
          <a:xfrm>
            <a:off x="731520" y="1188720"/>
            <a:ext cx="4389120" cy="4389120"/>
          </a:xfrm>
          <a:prstGeom prst="rect">
            <a:avLst/>
          </a:prstGeom>
        </p:spPr>
      </p:pic>
      <p:sp>
        <p:nvSpPr>
          <p:cNvPr id="5" name="TextBox 4"/>
          <p:cNvSpPr txBox="1"/>
          <p:nvPr/>
        </p:nvSpPr>
        <p:spPr>
          <a:xfrm>
            <a:off x="5486400" y="1188720"/>
            <a:ext cx="5943600" cy="5303520"/>
          </a:xfrm>
          <a:prstGeom prst="rect">
            <a:avLst/>
          </a:prstGeom>
          <a:noFill/>
        </p:spPr>
        <p:txBody>
          <a:bodyPr wrap="square">
            <a:spAutoFit/>
          </a:bodyPr>
          <a:lstStyle/>
          <a:p>
            <a:pPr>
              <a:defRPr sz="1600" b="1">
                <a:solidFill>
                  <a:srgbClr val="1B365D"/>
                </a:solidFill>
              </a:defRPr>
            </a:pPr>
            <a:r>
              <a:t>Study Area Specifications</a:t>
            </a:r>
          </a:p>
          <a:p>
            <a:pPr>
              <a:defRPr sz="1200"/>
            </a:pPr>
            <a:r>
              <a:t>• Location: Uyo Local Government Area (LGA), Akwa Ibom State (~139.41 km²).</a:t>
            </a:r>
            <a:br/>
            <a:r>
              <a:t>• Spatial CRS: EPSG:4326 (Display), UTM Zone 32N / EPSG:32632 (Analysis).</a:t>
            </a:r>
          </a:p>
          <a:p>
            <a:br/>
            <a:pPr>
              <a:defRPr sz="1600" b="1">
                <a:solidFill>
                  <a:srgbClr val="1B365D"/>
                </a:solidFill>
              </a:defRPr>
            </a:pPr>
            <a:r>
              <a:t>Satellite Dataset &amp; Quality Control</a:t>
            </a:r>
          </a:p>
          <a:p>
            <a:pPr>
              <a:defRPr sz="1200"/>
            </a:pPr>
            <a:r>
              <a:t>• Source: USGS Landsat 8/9 Collection 2 Level-2 Surface Reflectance + Thermal (ST_B10).</a:t>
            </a:r>
            <a:br/>
            <a:r>
              <a:t>• 4 Dry-Season Epochs: Jan 04, 2016 | Jan 15, 2019 | Jan 24, 2022 | Jan 12, 2025.</a:t>
            </a:r>
            <a:br/>
            <a:r>
              <a:t>• QA Bitmasking: Applied bitmask filtering on QA_PIXEL to mask cloud and shadow artifacts.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Geospatial Index Formulations &amp; Scale Factors</a:t>
            </a:r>
          </a:p>
          <a:p>
            <a:pPr>
              <a:defRPr sz="1000" b="1">
                <a:solidFill>
                  <a:srgbClr val="D95F02"/>
                </a:solidFill>
              </a:defRPr>
            </a:pPr>
            <a:r>
              <a:t>METHODOLOGY</a:t>
            </a:r>
          </a:p>
        </p:txBody>
      </p:sp>
      <p:sp>
        <p:nvSpPr>
          <p:cNvPr id="4" name="TextBox 3"/>
          <p:cNvSpPr txBox="1"/>
          <p:nvPr/>
        </p:nvSpPr>
        <p:spPr>
          <a:xfrm>
            <a:off x="731520" y="1188720"/>
            <a:ext cx="10698480" cy="5303520"/>
          </a:xfrm>
          <a:prstGeom prst="rect">
            <a:avLst/>
          </a:prstGeom>
          <a:noFill/>
        </p:spPr>
        <p:txBody>
          <a:bodyPr wrap="square">
            <a:spAutoFit/>
          </a:bodyPr>
          <a:lstStyle/>
          <a:p>
            <a:pPr>
              <a:defRPr sz="1600" b="1">
                <a:solidFill>
                  <a:srgbClr val="1B365D"/>
                </a:solidFill>
              </a:defRPr>
            </a:pPr>
            <a:r>
              <a:t>USGS Level-2 Radiometric Scaling</a:t>
            </a:r>
          </a:p>
          <a:p>
            <a:pPr>
              <a:defRPr sz="1300"/>
            </a:pPr>
            <a:r>
              <a:t>• Surface Reflectance: SR = DN × 0.0000275 - 0.2</a:t>
            </a:r>
            <a:br/>
            <a:r>
              <a:t>• Land Surface Temperature (°C): LST = (DN × 0.00341802 + 149.0) - 273.15</a:t>
            </a:r>
          </a:p>
          <a:p>
            <a:br/>
            <a:pPr>
              <a:defRPr sz="1600" b="1">
                <a:solidFill>
                  <a:srgbClr val="1B365D"/>
                </a:solidFill>
              </a:defRPr>
            </a:pPr>
            <a:r>
              <a:t>Spectral Formulations</a:t>
            </a:r>
          </a:p>
          <a:p>
            <a:pPr>
              <a:defRPr sz="1300"/>
            </a:pPr>
            <a:r>
              <a:t>• Vegetation Index (NDVI): (NIR - Red) / (NIR + Red)  --&gt; Landsat B5 &amp; B4</a:t>
            </a:r>
            <a:br/>
            <a:r>
              <a:t>• Built-up Index (NDBI): (SWIR1 - NIR) / (SWIR1 + NIR)  --&gt; Landsat B6 &amp; B5</a:t>
            </a:r>
            <a:br/>
            <a:r>
              <a:t>• Water Index (MNDWI): (Green - SWIR1) / (Green + SWIR1)  --&gt; Landsat B3 &amp; B6</a:t>
            </a:r>
            <a:br/>
            <a:r>
              <a:t>• Thermal Variance (UTFVI): (LST - Mean_LST) / LST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Decadal Spatial Thermal Signatures (2016, 2019, 2022, 2025)</a:t>
            </a:r>
          </a:p>
          <a:p>
            <a:pPr>
              <a:defRPr sz="1000" b="1">
                <a:solidFill>
                  <a:srgbClr val="D95F02"/>
                </a:solidFill>
              </a:defRPr>
            </a:pPr>
            <a:r>
              <a:t>SPATIAL MAPS</a:t>
            </a:r>
          </a:p>
        </p:txBody>
      </p:sp>
      <p:pic>
        <p:nvPicPr>
          <p:cNvPr id="4" name="Picture 3" descr="fig3_spatial_lst_comparison.png"/>
          <p:cNvPicPr>
            <a:picLocks noChangeAspect="1"/>
          </p:cNvPicPr>
          <p:nvPr/>
        </p:nvPicPr>
        <p:blipFill>
          <a:blip r:embed="rId2"/>
          <a:stretch>
            <a:fillRect/>
          </a:stretch>
        </p:blipFill>
        <p:spPr>
          <a:xfrm>
            <a:off x="731520" y="1188720"/>
            <a:ext cx="6583680" cy="5688950"/>
          </a:xfrm>
          <a:prstGeom prst="rect">
            <a:avLst/>
          </a:prstGeom>
        </p:spPr>
      </p:pic>
      <p:sp>
        <p:nvSpPr>
          <p:cNvPr id="5" name="TextBox 4"/>
          <p:cNvSpPr txBox="1"/>
          <p:nvPr/>
        </p:nvSpPr>
        <p:spPr>
          <a:xfrm>
            <a:off x="7498079" y="1188720"/>
            <a:ext cx="4114800" cy="5303520"/>
          </a:xfrm>
          <a:prstGeom prst="rect">
            <a:avLst/>
          </a:prstGeom>
          <a:noFill/>
        </p:spPr>
        <p:txBody>
          <a:bodyPr wrap="square">
            <a:spAutoFit/>
          </a:bodyPr>
          <a:lstStyle/>
          <a:p>
            <a:pPr>
              <a:defRPr sz="1500" b="1">
                <a:solidFill>
                  <a:srgbClr val="1B365D"/>
                </a:solidFill>
              </a:defRPr>
            </a:pPr>
            <a:r>
              <a:t>All 4 Epochs Included:</a:t>
            </a:r>
          </a:p>
          <a:p>
            <a:pPr>
              <a:defRPr sz="1200"/>
            </a:pPr>
            <a:r>
              <a:t>• 2x2 Composite Grid showing 2016, 2019, 2022, and 2025 side-by-side.</a:t>
            </a:r>
            <a:br/>
            <a:r>
              <a:t>• Cartographic Elements: Titles, North Arrows (N ▲), Scale Bar (°C), Gray Cloud Mask Key.</a:t>
            </a:r>
          </a:p>
          <a:p>
            <a:br/>
            <a:pPr>
              <a:defRPr sz="1500" b="1">
                <a:solidFill>
                  <a:srgbClr val="1B365D"/>
                </a:solidFill>
              </a:defRPr>
            </a:pPr>
            <a:r>
              <a:t>Thermal Observations:</a:t>
            </a:r>
          </a:p>
          <a:p>
            <a:pPr>
              <a:defRPr sz="1200"/>
            </a:pPr>
            <a:r>
              <a:t>• Bright yellow/white-hot zones (&gt;38°C) concentrate in urban cores.</a:t>
            </a:r>
            <a:br/>
            <a:r>
              <a:t>• Vegetated peripheries stay cool (26–30°C).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4-Class Land Surface Coverage (2016, 2019, 2022, 2025)</a:t>
            </a:r>
          </a:p>
          <a:p>
            <a:pPr>
              <a:defRPr sz="1000" b="1">
                <a:solidFill>
                  <a:srgbClr val="D95F02"/>
                </a:solidFill>
              </a:defRPr>
            </a:pPr>
            <a:r>
              <a:t>SURFACE CLASSIFICATION</a:t>
            </a:r>
          </a:p>
        </p:txBody>
      </p:sp>
      <p:pic>
        <p:nvPicPr>
          <p:cNvPr id="4" name="Picture 3" descr="fig4_landcover_classification.png"/>
          <p:cNvPicPr>
            <a:picLocks noChangeAspect="1"/>
          </p:cNvPicPr>
          <p:nvPr/>
        </p:nvPicPr>
        <p:blipFill>
          <a:blip r:embed="rId2"/>
          <a:stretch>
            <a:fillRect/>
          </a:stretch>
        </p:blipFill>
        <p:spPr>
          <a:xfrm>
            <a:off x="731520" y="1188720"/>
            <a:ext cx="6583680" cy="5631651"/>
          </a:xfrm>
          <a:prstGeom prst="rect">
            <a:avLst/>
          </a:prstGeom>
        </p:spPr>
      </p:pic>
      <p:sp>
        <p:nvSpPr>
          <p:cNvPr id="5" name="TextBox 4"/>
          <p:cNvSpPr txBox="1"/>
          <p:nvPr/>
        </p:nvSpPr>
        <p:spPr>
          <a:xfrm>
            <a:off x="7498079" y="1188720"/>
            <a:ext cx="4114800" cy="5303520"/>
          </a:xfrm>
          <a:prstGeom prst="rect">
            <a:avLst/>
          </a:prstGeom>
          <a:noFill/>
        </p:spPr>
        <p:txBody>
          <a:bodyPr wrap="square">
            <a:spAutoFit/>
          </a:bodyPr>
          <a:lstStyle/>
          <a:p>
            <a:pPr>
              <a:defRPr sz="1500" b="1">
                <a:solidFill>
                  <a:srgbClr val="1B365D"/>
                </a:solidFill>
              </a:defRPr>
            </a:pPr>
            <a:r>
              <a:t>4 Surface Categories:</a:t>
            </a:r>
          </a:p>
          <a:p>
            <a:pPr>
              <a:defRPr sz="1200"/>
            </a:pPr>
            <a:r>
              <a:t>• 🟩 Vegetation Canopy</a:t>
            </a:r>
            <a:br/>
            <a:r>
              <a:t>• 🟧 Built-Up Infrastructure</a:t>
            </a:r>
            <a:br/>
            <a:r>
              <a:t>• 🟫 Bare Soil / Cleared Land</a:t>
            </a:r>
            <a:br/>
            <a:r>
              <a:t>• 🟦 Water Bodies / Wetland</a:t>
            </a:r>
          </a:p>
          <a:p>
            <a:br/>
            <a:pPr>
              <a:defRPr sz="1500" b="1">
                <a:solidFill>
                  <a:srgbClr val="1B365D"/>
                </a:solidFill>
              </a:defRPr>
            </a:pPr>
            <a:r>
              <a:t>Thermal Contrast:</a:t>
            </a:r>
          </a:p>
          <a:p>
            <a:pPr>
              <a:defRPr sz="1200"/>
            </a:pPr>
            <a:r>
              <a:t>• Built-up &amp; Bare Soil record higher mean LST than Vegetation.</a:t>
            </a:r>
            <a:br/>
            <a:r>
              <a:t>• Open water is modest due to sub-pixel mixing of narrow streams at 30 m resolution.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Decadal Trajectory: Built-Up Expansion vs Canopy Loss</a:t>
            </a:r>
          </a:p>
          <a:p>
            <a:pPr>
              <a:defRPr sz="1000" b="1">
                <a:solidFill>
                  <a:srgbClr val="D95F02"/>
                </a:solidFill>
              </a:defRPr>
            </a:pPr>
            <a:r>
              <a:t>RESULTS &amp; TRENDS</a:t>
            </a:r>
          </a:p>
        </p:txBody>
      </p:sp>
      <p:pic>
        <p:nvPicPr>
          <p:cNvPr id="4" name="Picture 3" descr="fig1_eda_distributions.png"/>
          <p:cNvPicPr>
            <a:picLocks noChangeAspect="1"/>
          </p:cNvPicPr>
          <p:nvPr/>
        </p:nvPicPr>
        <p:blipFill>
          <a:blip r:embed="rId2"/>
          <a:stretch>
            <a:fillRect/>
          </a:stretch>
        </p:blipFill>
        <p:spPr>
          <a:xfrm>
            <a:off x="731520" y="1188720"/>
            <a:ext cx="5943600" cy="1857375"/>
          </a:xfrm>
          <a:prstGeom prst="rect">
            <a:avLst/>
          </a:prstGeom>
        </p:spPr>
      </p:pic>
      <p:sp>
        <p:nvSpPr>
          <p:cNvPr id="5" name="TextBox 4"/>
          <p:cNvSpPr txBox="1"/>
          <p:nvPr/>
        </p:nvSpPr>
        <p:spPr>
          <a:xfrm>
            <a:off x="6858000" y="1188720"/>
            <a:ext cx="4754880" cy="5303520"/>
          </a:xfrm>
          <a:prstGeom prst="rect">
            <a:avLst/>
          </a:prstGeom>
          <a:noFill/>
        </p:spPr>
        <p:txBody>
          <a:bodyPr wrap="square">
            <a:spAutoFit/>
          </a:bodyPr>
          <a:lstStyle/>
          <a:p>
            <a:pPr>
              <a:defRPr sz="1500" b="1">
                <a:solidFill>
                  <a:srgbClr val="1B365D"/>
                </a:solidFill>
              </a:defRPr>
            </a:pPr>
            <a:r>
              <a:t>Quantitative Metrics (2016 vs 2025):</a:t>
            </a:r>
          </a:p>
          <a:p>
            <a:pPr>
              <a:defRPr sz="1200"/>
            </a:pPr>
            <a:r>
              <a:t>• Built-up Growth: Mean NDBI increased from -0.031 (2016) to -0.005 (2025) [Δ = +0.026], confirming infrastructure expansion.</a:t>
            </a:r>
            <a:br/>
            <a:r>
              <a:t>• Canopy Loss: Mean NDVI dropped from 0.418 (2016) to 0.382 (2025) [Δ = -0.036], reflecting forest clearing.</a:t>
            </a:r>
            <a:br/>
            <a:r>
              <a:t>• Core Insight: Rising NDBI combined with falling NDVI demonstrates structural landscape shift driving microclimate warming.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Microclimate Statistical Modeling (OLS Regression)</a:t>
            </a:r>
          </a:p>
          <a:p>
            <a:pPr>
              <a:defRPr sz="1000" b="1">
                <a:solidFill>
                  <a:srgbClr val="D95F02"/>
                </a:solidFill>
              </a:defRPr>
            </a:pPr>
            <a:r>
              <a:t>STATISTICAL EVIDENCE</a:t>
            </a:r>
          </a:p>
        </p:txBody>
      </p:sp>
      <p:pic>
        <p:nvPicPr>
          <p:cNvPr id="4" name="Picture 3" descr="fig2_regression_scatter.png"/>
          <p:cNvPicPr>
            <a:picLocks noChangeAspect="1"/>
          </p:cNvPicPr>
          <p:nvPr/>
        </p:nvPicPr>
        <p:blipFill>
          <a:blip r:embed="rId2"/>
          <a:stretch>
            <a:fillRect/>
          </a:stretch>
        </p:blipFill>
        <p:spPr>
          <a:xfrm>
            <a:off x="731520" y="1188720"/>
            <a:ext cx="5943600" cy="2122714"/>
          </a:xfrm>
          <a:prstGeom prst="rect">
            <a:avLst/>
          </a:prstGeom>
        </p:spPr>
      </p:pic>
      <p:sp>
        <p:nvSpPr>
          <p:cNvPr id="5" name="TextBox 4"/>
          <p:cNvSpPr txBox="1"/>
          <p:nvPr/>
        </p:nvSpPr>
        <p:spPr>
          <a:xfrm>
            <a:off x="6858000" y="1188720"/>
            <a:ext cx="4754880" cy="5303520"/>
          </a:xfrm>
          <a:prstGeom prst="rect">
            <a:avLst/>
          </a:prstGeom>
          <a:noFill/>
        </p:spPr>
        <p:txBody>
          <a:bodyPr wrap="square">
            <a:spAutoFit/>
          </a:bodyPr>
          <a:lstStyle/>
          <a:p>
            <a:pPr>
              <a:defRPr sz="1500" b="1">
                <a:solidFill>
                  <a:srgbClr val="1B365D"/>
                </a:solidFill>
              </a:defRPr>
            </a:pPr>
            <a:r>
              <a:t>Mathematical Proof of Behavior:</a:t>
            </a:r>
          </a:p>
          <a:p>
            <a:pPr>
              <a:defRPr sz="1200"/>
            </a:pPr>
            <a:r>
              <a:t>• 🟩 LST vs NDVI (Vegetation): Negative slope. Proves mathematically that as vegetation density increases, surface temperature decreases (Surface Cooling).</a:t>
            </a:r>
            <a:br/>
            <a:r>
              <a:t>• 🟧 LST vs NDBI (Built-Up): Positive slope. Proves mathematically that as built-up density increases, surface temperature increases (Surface Heating).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Software Architecture &amp; 24/7 Cloud Deployment</a:t>
            </a:r>
          </a:p>
          <a:p>
            <a:pPr>
              <a:defRPr sz="1000" b="1">
                <a:solidFill>
                  <a:srgbClr val="D95F02"/>
                </a:solidFill>
              </a:defRPr>
            </a:pPr>
            <a:r>
              <a:t>SYSTEM ARCHITECTURE</a:t>
            </a:r>
          </a:p>
        </p:txBody>
      </p:sp>
      <p:sp>
        <p:nvSpPr>
          <p:cNvPr id="4" name="TextBox 3"/>
          <p:cNvSpPr txBox="1"/>
          <p:nvPr/>
        </p:nvSpPr>
        <p:spPr>
          <a:xfrm>
            <a:off x="731520" y="1188720"/>
            <a:ext cx="10698480" cy="5303520"/>
          </a:xfrm>
          <a:prstGeom prst="rect">
            <a:avLst/>
          </a:prstGeom>
          <a:noFill/>
        </p:spPr>
        <p:txBody>
          <a:bodyPr wrap="square">
            <a:spAutoFit/>
          </a:bodyPr>
          <a:lstStyle/>
          <a:p>
            <a:pPr>
              <a:defRPr sz="1600" b="1">
                <a:solidFill>
                  <a:srgbClr val="1B365D"/>
                </a:solidFill>
              </a:defRPr>
            </a:pPr>
            <a:r>
              <a:t>End-to-End System Framework:</a:t>
            </a:r>
          </a:p>
          <a:p>
            <a:pPr>
              <a:defRPr sz="1300"/>
            </a:pPr>
            <a:r>
              <a:t>1. Google Colab: High-speed cloud raster extraction via Planetary Computer STAC API.</a:t>
            </a:r>
            <a:br/>
            <a:r>
              <a:t>2. Visual Studio Code (VS Code): Local modular software development &amp; Git integration.</a:t>
            </a:r>
            <a:br/>
            <a:r>
              <a:t>3. GitHub Repository: Public open-source repository (github.com/blossomsplendour-cpu/uyo_uhi).</a:t>
            </a:r>
            <a:br/>
            <a:r>
              <a:t>4. Streamlit Community Cloud: 24/7 live web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Scientific Limitations &amp; Urban Planning Recommendations</a:t>
            </a:r>
          </a:p>
          <a:p>
            <a:pPr>
              <a:defRPr sz="1000" b="1">
                <a:solidFill>
                  <a:srgbClr val="D95F02"/>
                </a:solidFill>
              </a:defRPr>
            </a:pPr>
            <a:r>
              <a:t>CONCLUSION</a:t>
            </a:r>
          </a:p>
        </p:txBody>
      </p:sp>
      <p:sp>
        <p:nvSpPr>
          <p:cNvPr id="4" name="TextBox 3"/>
          <p:cNvSpPr txBox="1"/>
          <p:nvPr/>
        </p:nvSpPr>
        <p:spPr>
          <a:xfrm>
            <a:off x="731520" y="1188720"/>
            <a:ext cx="10698480" cy="5303520"/>
          </a:xfrm>
          <a:prstGeom prst="rect">
            <a:avLst/>
          </a:prstGeom>
          <a:noFill/>
        </p:spPr>
        <p:txBody>
          <a:bodyPr wrap="square">
            <a:spAutoFit/>
          </a:bodyPr>
          <a:lstStyle/>
          <a:p>
            <a:pPr>
              <a:defRPr sz="1500" b="1">
                <a:solidFill>
                  <a:srgbClr val="1B365D"/>
                </a:solidFill>
              </a:defRPr>
            </a:pPr>
            <a:r>
              <a:t>Stated Scientific Limitations:</a:t>
            </a:r>
          </a:p>
          <a:p>
            <a:pPr>
              <a:defRPr sz="1200"/>
            </a:pPr>
            <a:r>
              <a:t>• LST vs Air Temp: Satellites measure radiometric skin surface temperature (~10:30 AM overpass), not 2 m ambient air temperature.</a:t>
            </a:r>
            <a:br/>
            <a:r>
              <a:t>• Snapshot Timing: Observations reflect mid-morning dry-season overpass conditions.</a:t>
            </a:r>
          </a:p>
          <a:p>
            <a:br/>
            <a:pPr>
              <a:defRPr sz="1500" b="1">
                <a:solidFill>
                  <a:srgbClr val="1B365D"/>
                </a:solidFill>
              </a:defRPr>
            </a:pPr>
            <a:r>
              <a:t>Planning Recommendations:</a:t>
            </a:r>
          </a:p>
          <a:p>
            <a:pPr>
              <a:defRPr sz="1200"/>
            </a:pPr>
            <a:r>
              <a:t>• Targeted Urban Greening: Mandate green buffers along expanding road corridors (e.g., Uyo Ring Roads).</a:t>
            </a:r>
            <a:br/>
            <a:r>
              <a:t>• Framework Scalability: Operationalize this automated Python framework at Advanced Space Technology And Applications Laboratories for low-cost city monitoring.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D95F02"/>
          </a:solidFill>
          <a:ln>
            <a:solidFill>
              <a:srgbClr val="D95F0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a:spAutoFit/>
          </a:bodyPr>
          <a:lstStyle/>
          <a:p>
            <a:pPr>
              <a:defRPr sz="2400" b="1">
                <a:solidFill>
                  <a:srgbClr val="1B365D"/>
                </a:solidFill>
              </a:defRPr>
            </a:pPr>
            <a:r>
              <a:t>Academic References &amp; Standards</a:t>
            </a:r>
          </a:p>
          <a:p>
            <a:pPr>
              <a:defRPr sz="1000" b="1">
                <a:solidFill>
                  <a:srgbClr val="D95F02"/>
                </a:solidFill>
              </a:defRPr>
            </a:pPr>
            <a:r>
              <a:t>REFERENCES</a:t>
            </a:r>
          </a:p>
        </p:txBody>
      </p:sp>
      <p:sp>
        <p:nvSpPr>
          <p:cNvPr id="4" name="TextBox 3"/>
          <p:cNvSpPr txBox="1"/>
          <p:nvPr/>
        </p:nvSpPr>
        <p:spPr>
          <a:xfrm>
            <a:off x="731520" y="1188720"/>
            <a:ext cx="10698480" cy="5303520"/>
          </a:xfrm>
          <a:prstGeom prst="rect">
            <a:avLst/>
          </a:prstGeom>
          <a:noFill/>
        </p:spPr>
        <p:txBody>
          <a:bodyPr wrap="square">
            <a:spAutoFit/>
          </a:bodyPr>
          <a:lstStyle/>
          <a:p>
            <a:pPr>
              <a:defRPr sz="1500" b="1">
                <a:solidFill>
                  <a:srgbClr val="1B365D"/>
                </a:solidFill>
              </a:defRPr>
            </a:pPr>
            <a:r>
              <a:t>Formal Literature Citations:</a:t>
            </a:r>
          </a:p>
          <a:p>
            <a:pPr>
              <a:defRPr sz="1100"/>
            </a:pPr>
            <a:r>
              <a:t>• United States Geological Survey (USGS). (2021). Landsat 8-9 Collection 2 Level-2 Science Products. USGS Earth Resources Observation and Science Center.</a:t>
            </a:r>
            <a:br/>
            <a:r>
              <a:t>• Tucker, C. J. (1979). Red and photographic infrared linear combinations for monitoring vegetation. Remote Sensing of Environment, 8(2), 127-150.</a:t>
            </a:r>
            <a:br/>
            <a:r>
              <a:t>• Zha, Y., Gao, J., &amp; Ni, S. (2003). Use of normalized difference built-up index in automatically mapping urban areas from TM imagery. International Journal of Remote Sensing, 24(3), 583-594.</a:t>
            </a:r>
            <a:br/>
            <a:r>
              <a:t>• Xu, H. (2006). Modification of normalised difference water index (NDWI) to enhance open water features in remotely sensed imagery. International Journal of Remote Sensing, 27(14), 3025-3033.</a:t>
            </a:r>
            <a:br/>
            <a:r>
              <a:t>• Voogt, J. A., &amp; Oke, T. R. (2003). Thermal remote sensing of urban climates. Remote Sensing of Environment, 86(3), 370-384.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65D"/>
          </a:solidFill>
          <a:ln>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2011680"/>
          </a:xfrm>
          <a:prstGeom prst="rect">
            <a:avLst/>
          </a:prstGeom>
          <a:noFill/>
        </p:spPr>
        <p:txBody>
          <a:bodyPr wrap="square">
            <a:spAutoFit/>
          </a:bodyPr>
          <a:lstStyle/>
          <a:p>
            <a:pPr algn="ctr">
              <a:defRPr sz="4400" b="1">
                <a:solidFill>
                  <a:srgbClr val="FFFFFF"/>
                </a:solidFill>
              </a:defRPr>
            </a:pPr>
            <a:r>
              <a:t>Thank You!</a:t>
            </a:r>
          </a:p>
          <a:p>
            <a:pPr algn="ctr">
              <a:defRPr sz="2200">
                <a:solidFill>
                  <a:srgbClr val="FFB74D"/>
                </a:solidFill>
              </a:defRPr>
            </a:pPr>
            <a:r>
              <a:t>Questions &amp; Answers</a:t>
            </a:r>
          </a:p>
        </p:txBody>
      </p:sp>
      <p:sp>
        <p:nvSpPr>
          <p:cNvPr id="4" name="Rounded Rectangle 3">
            <a:hlinkClick r:id="rId2"/>
          </p:cNvPr>
          <p:cNvSpPr/>
          <p:nvPr/>
        </p:nvSpPr>
        <p:spPr>
          <a:xfrm>
            <a:off x="2889504" y="3474720"/>
            <a:ext cx="6400800" cy="1005840"/>
          </a:xfrm>
          <a:prstGeom prst="roundRect">
            <a:avLst/>
          </a:prstGeom>
          <a:solidFill>
            <a:srgbClr val="0078D4"/>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CLICK HERE TO LAUNCH LIVE DASHBOARD</a:t>
            </a:r>
          </a:p>
          <a:p>
            <a:pPr algn="ctr">
              <a:defRPr sz="1100">
                <a:solidFill>
                  <a:srgbClr val="DCE6FF"/>
                </a:solidFill>
              </a:defRPr>
            </a:pPr>
            <a:r>
              <a:t>https://uyouhi-iayygetbmnholngdvqjmdv.streamlit.app/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