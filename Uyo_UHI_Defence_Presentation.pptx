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14"/>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3735"/>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76" autoAdjust="0"/>
  </p:normalViewPr>
  <p:slideViewPr>
    <p:cSldViewPr snapToGrid="0" snapToObjects="1">
      <p:cViewPr>
        <p:scale>
          <a:sx n="70" d="100"/>
          <a:sy n="70" d="100"/>
        </p:scale>
        <p:origin x="-720" y="-19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uyouhi-iayygetbmnholngdvqjmdv.streamlit.app/"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5003" y="0"/>
            <a:ext cx="12191695" cy="685800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smtClean="0">
              <a:solidFill>
                <a:schemeClr val="accent6">
                  <a:lumMod val="20000"/>
                  <a:lumOff val="80000"/>
                </a:schemeClr>
              </a:solidFill>
              <a:latin typeface="Times New Roman" pitchFamily="18" charset="0"/>
              <a:cs typeface="Times New Roman" pitchFamily="18" charset="0"/>
            </a:endParaRPr>
          </a:p>
          <a:p>
            <a:pPr algn="ctr"/>
            <a:r>
              <a:rPr lang="en-US" sz="2400" dirty="0" smtClean="0">
                <a:solidFill>
                  <a:schemeClr val="accent6">
                    <a:lumMod val="20000"/>
                    <a:lumOff val="80000"/>
                  </a:schemeClr>
                </a:solidFill>
                <a:latin typeface="Times New Roman" pitchFamily="18" charset="0"/>
                <a:cs typeface="Times New Roman" pitchFamily="18" charset="0"/>
              </a:rPr>
              <a:t>UDOFIA, MARIA-GLORY JUDITH</a:t>
            </a:r>
          </a:p>
          <a:p>
            <a:pPr algn="ctr"/>
            <a:r>
              <a:rPr lang="en-US" sz="2400" dirty="0" smtClean="0">
                <a:solidFill>
                  <a:schemeClr val="accent6">
                    <a:lumMod val="20000"/>
                    <a:lumOff val="80000"/>
                  </a:schemeClr>
                </a:solidFill>
                <a:latin typeface="Times New Roman" pitchFamily="18" charset="0"/>
                <a:cs typeface="Times New Roman" pitchFamily="18" charset="0"/>
              </a:rPr>
              <a:t>OCTOBER, 2022</a:t>
            </a:r>
            <a:endParaRPr sz="2400" dirty="0">
              <a:solidFill>
                <a:schemeClr val="accent6">
                  <a:lumMod val="20000"/>
                  <a:lumOff val="80000"/>
                </a:schemeClr>
              </a:solidFill>
              <a:latin typeface="Times New Roman" pitchFamily="18" charset="0"/>
              <a:cs typeface="Times New Roman" pitchFamily="18" charset="0"/>
            </a:endParaRPr>
          </a:p>
        </p:txBody>
      </p:sp>
      <p:sp>
        <p:nvSpPr>
          <p:cNvPr id="3" name="TextBox 2"/>
          <p:cNvSpPr txBox="1"/>
          <p:nvPr/>
        </p:nvSpPr>
        <p:spPr>
          <a:xfrm>
            <a:off x="0" y="1034174"/>
            <a:ext cx="11887200" cy="1754326"/>
          </a:xfrm>
          <a:prstGeom prst="rect">
            <a:avLst/>
          </a:prstGeom>
          <a:noFill/>
        </p:spPr>
        <p:txBody>
          <a:bodyPr wrap="square">
            <a:spAutoFit/>
          </a:bodyPr>
          <a:lstStyle/>
          <a:p>
            <a:pPr algn="ctr">
              <a:defRPr sz="3000" b="1">
                <a:solidFill>
                  <a:srgbClr val="FFFFFF"/>
                </a:solidFill>
              </a:defRPr>
            </a:pPr>
            <a:r>
              <a:rPr sz="4000" dirty="0">
                <a:latin typeface="Times New Roman" pitchFamily="18" charset="0"/>
                <a:cs typeface="Times New Roman" pitchFamily="18" charset="0"/>
              </a:rPr>
              <a:t>End-to-End Geospatial Data Analysis of Urban Heat Island Dynamics in </a:t>
            </a:r>
            <a:r>
              <a:rPr sz="4000" dirty="0" err="1">
                <a:latin typeface="Times New Roman" pitchFamily="18" charset="0"/>
                <a:cs typeface="Times New Roman" pitchFamily="18" charset="0"/>
              </a:rPr>
              <a:t>Uyo</a:t>
            </a:r>
            <a:r>
              <a:rPr sz="4000" dirty="0">
                <a:latin typeface="Times New Roman" pitchFamily="18" charset="0"/>
                <a:cs typeface="Times New Roman" pitchFamily="18" charset="0"/>
              </a:rPr>
              <a:t> LGA</a:t>
            </a:r>
          </a:p>
          <a:p>
            <a:pPr algn="ctr">
              <a:defRPr sz="1800">
                <a:solidFill>
                  <a:srgbClr val="FFB74D"/>
                </a:solidFill>
              </a:defRPr>
            </a:pPr>
            <a:r>
              <a:rPr sz="2800" dirty="0" smtClean="0">
                <a:latin typeface="Times New Roman" pitchFamily="18" charset="0"/>
                <a:cs typeface="Times New Roman" pitchFamily="18" charset="0"/>
              </a:rPr>
              <a:t>A Decadal Multi-Temporal Remote Sensing Framework (2016–2025</a:t>
            </a:r>
            <a:r>
              <a:rPr lang="en-US" sz="2800" dirty="0" smtClean="0">
                <a:latin typeface="Times New Roman" pitchFamily="18" charset="0"/>
                <a:cs typeface="Times New Roman" pitchFamily="18" charset="0"/>
              </a:rPr>
              <a:t>)</a:t>
            </a:r>
            <a:endParaRPr lang="en-US" sz="2800" dirty="0" smtClean="0">
              <a:latin typeface="Times New Roman" pitchFamily="18" charset="0"/>
              <a:cs typeface="Times New Roman" pitchFamily="18" charset="0"/>
            </a:endParaRPr>
          </a:p>
        </p:txBody>
      </p:sp>
      <p:sp>
        <p:nvSpPr>
          <p:cNvPr id="4" name="TextBox 3"/>
          <p:cNvSpPr txBox="1"/>
          <p:nvPr/>
        </p:nvSpPr>
        <p:spPr>
          <a:xfrm>
            <a:off x="914400" y="3657600"/>
            <a:ext cx="10362895" cy="369332"/>
          </a:xfrm>
          <a:prstGeom prst="rect">
            <a:avLst/>
          </a:prstGeom>
          <a:noFill/>
        </p:spPr>
        <p:txBody>
          <a:bodyPr wrap="square">
            <a:spAutoFit/>
          </a:bodyPr>
          <a:lstStyle/>
          <a:p>
            <a:endParaRPr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731" y="0"/>
            <a:ext cx="1596981" cy="1034174"/>
          </a:xfrm>
          <a:prstGeom prst="rect">
            <a:avLst/>
          </a:prstGeom>
        </p:spPr>
      </p:pic>
      <p:sp>
        <p:nvSpPr>
          <p:cNvPr id="6" name="TextBox 5"/>
          <p:cNvSpPr txBox="1"/>
          <p:nvPr/>
        </p:nvSpPr>
        <p:spPr>
          <a:xfrm>
            <a:off x="450760" y="4468968"/>
            <a:ext cx="10303097" cy="2031325"/>
          </a:xfrm>
          <a:prstGeom prst="rect">
            <a:avLst/>
          </a:prstGeom>
          <a:noFill/>
        </p:spPr>
        <p:txBody>
          <a:bodyPr wrap="square" rtlCol="0">
            <a:spAutoFit/>
          </a:bodyPr>
          <a:lstStyle/>
          <a:p>
            <a:pPr algn="ctr"/>
            <a:r>
              <a:rPr lang="en-US" sz="2400" dirty="0" smtClean="0">
                <a:solidFill>
                  <a:srgbClr val="FF0000"/>
                </a:solidFill>
                <a:latin typeface="Times New Roman" pitchFamily="18" charset="0"/>
                <a:cs typeface="Times New Roman" pitchFamily="18" charset="0"/>
              </a:rPr>
              <a:t>ADVANCED SPACE TECHNOLOGY APPPLICATION AND LABORATORY – ASTAL</a:t>
            </a:r>
          </a:p>
          <a:p>
            <a:pPr algn="ctr"/>
            <a:r>
              <a:rPr lang="en-US" sz="2000" dirty="0" smtClean="0">
                <a:solidFill>
                  <a:schemeClr val="accent5">
                    <a:lumMod val="20000"/>
                    <a:lumOff val="80000"/>
                  </a:schemeClr>
                </a:solidFill>
                <a:latin typeface="Times New Roman" pitchFamily="18" charset="0"/>
                <a:cs typeface="Times New Roman" pitchFamily="18" charset="0"/>
              </a:rPr>
              <a:t>NATIONAL SPACE RESEARCH AND DEVELOPMENT AGENCY</a:t>
            </a:r>
          </a:p>
          <a:p>
            <a:pPr algn="ctr"/>
            <a:r>
              <a:rPr lang="en-US" sz="2200" dirty="0" smtClean="0">
                <a:solidFill>
                  <a:schemeClr val="accent6">
                    <a:lumMod val="75000"/>
                  </a:schemeClr>
                </a:solidFill>
                <a:latin typeface="Times New Roman" pitchFamily="18" charset="0"/>
                <a:cs typeface="Times New Roman" pitchFamily="18" charset="0"/>
              </a:rPr>
              <a:t>FEDERAL MINISTRY OF SCIENCE TECHNOLOGY AND INNOVATIONS</a:t>
            </a:r>
          </a:p>
          <a:p>
            <a:pPr algn="ctr"/>
            <a:r>
              <a:rPr lang="en-US" dirty="0" smtClean="0">
                <a:solidFill>
                  <a:srgbClr val="92D050"/>
                </a:solidFill>
                <a:latin typeface="Times New Roman" pitchFamily="18" charset="0"/>
                <a:cs typeface="Times New Roman" pitchFamily="18" charset="0"/>
              </a:rPr>
              <a:t>U NIVERSITY OF UYO, NWANIBA ROAD,  P.M.B. 1223 UYO, AKWA IBOM STATE</a:t>
            </a:r>
          </a:p>
          <a:p>
            <a:pPr algn="ctr"/>
            <a:r>
              <a:rPr lang="en-US" dirty="0" smtClean="0">
                <a:solidFill>
                  <a:srgbClr val="92D050"/>
                </a:solidFill>
                <a:latin typeface="Times New Roman" pitchFamily="18" charset="0"/>
                <a:cs typeface="Times New Roman" pitchFamily="18" charset="0"/>
              </a:rPr>
              <a:t>Tel: 07066648503, Email: Spacelab@gmail.com</a:t>
            </a:r>
            <a:endParaRPr lang="en-US" dirty="0">
              <a:solidFill>
                <a:srgbClr val="92D05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D95F02"/>
          </a:solidFill>
          <a:ln>
            <a:solidFill>
              <a:srgbClr val="D95F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800219"/>
          </a:xfrm>
          <a:prstGeom prst="rect">
            <a:avLst/>
          </a:prstGeom>
          <a:noFill/>
        </p:spPr>
        <p:txBody>
          <a:bodyPr wrap="square">
            <a:spAutoFit/>
          </a:bodyPr>
          <a:lstStyle/>
          <a:p>
            <a:pPr algn="ctr">
              <a:defRPr sz="2400" b="1">
                <a:solidFill>
                  <a:srgbClr val="1B365D"/>
                </a:solidFill>
              </a:defRPr>
            </a:pPr>
            <a:r>
              <a:rPr sz="3000" dirty="0">
                <a:latin typeface="Times New Roman" pitchFamily="18" charset="0"/>
                <a:cs typeface="Times New Roman" pitchFamily="18" charset="0"/>
              </a:rPr>
              <a:t>Abstract, Dedication &amp; Acknowledgements</a:t>
            </a:r>
          </a:p>
          <a:p>
            <a:pPr algn="ctr">
              <a:defRPr sz="1000" b="1">
                <a:solidFill>
                  <a:srgbClr val="D95F02"/>
                </a:solidFill>
              </a:defRPr>
            </a:pPr>
            <a:r>
              <a:rPr sz="1600" dirty="0">
                <a:latin typeface="Times New Roman" pitchFamily="18" charset="0"/>
                <a:cs typeface="Times New Roman" pitchFamily="18" charset="0"/>
              </a:rPr>
              <a:t>ACADEMIC PRELIMINARIES</a:t>
            </a:r>
          </a:p>
        </p:txBody>
      </p:sp>
      <p:sp>
        <p:nvSpPr>
          <p:cNvPr id="4" name="TextBox 3"/>
          <p:cNvSpPr txBox="1"/>
          <p:nvPr/>
        </p:nvSpPr>
        <p:spPr>
          <a:xfrm>
            <a:off x="746607" y="1652360"/>
            <a:ext cx="10698480" cy="4708981"/>
          </a:xfrm>
          <a:prstGeom prst="rect">
            <a:avLst/>
          </a:prstGeom>
          <a:noFill/>
        </p:spPr>
        <p:txBody>
          <a:bodyPr wrap="square">
            <a:spAutoFit/>
          </a:bodyPr>
          <a:lstStyle/>
          <a:p>
            <a:pPr algn="ctr">
              <a:defRPr sz="1600" b="1">
                <a:solidFill>
                  <a:srgbClr val="1B365D"/>
                </a:solidFill>
              </a:defRPr>
            </a:pPr>
            <a:r>
              <a:rPr lang="en-US" sz="2000" dirty="0" smtClean="0">
                <a:solidFill>
                  <a:schemeClr val="accent6">
                    <a:lumMod val="50000"/>
                  </a:schemeClr>
                </a:solidFill>
                <a:latin typeface="Times New Roman" pitchFamily="18" charset="0"/>
                <a:cs typeface="Times New Roman" pitchFamily="18" charset="0"/>
              </a:rPr>
              <a:t>ABSTRACT</a:t>
            </a:r>
            <a:endParaRPr sz="2000" dirty="0">
              <a:solidFill>
                <a:schemeClr val="accent6">
                  <a:lumMod val="50000"/>
                </a:schemeClr>
              </a:solidFill>
              <a:latin typeface="Times New Roman" pitchFamily="18" charset="0"/>
              <a:cs typeface="Times New Roman" pitchFamily="18" charset="0"/>
            </a:endParaRPr>
          </a:p>
          <a:p>
            <a:pPr algn="just">
              <a:defRPr sz="1200"/>
            </a:pPr>
            <a:r>
              <a:rPr sz="2000" dirty="0" smtClean="0">
                <a:solidFill>
                  <a:srgbClr val="002060"/>
                </a:solidFill>
                <a:latin typeface="Times New Roman" pitchFamily="18" charset="0"/>
                <a:cs typeface="Times New Roman" pitchFamily="18" charset="0"/>
              </a:rPr>
              <a:t>Rapid urbanization in </a:t>
            </a:r>
            <a:r>
              <a:rPr sz="2000" dirty="0" err="1" smtClean="0">
                <a:solidFill>
                  <a:srgbClr val="002060"/>
                </a:solidFill>
                <a:latin typeface="Times New Roman" pitchFamily="18" charset="0"/>
                <a:cs typeface="Times New Roman" pitchFamily="18" charset="0"/>
              </a:rPr>
              <a:t>Uyo</a:t>
            </a:r>
            <a:r>
              <a:rPr sz="2000" dirty="0" smtClean="0">
                <a:solidFill>
                  <a:srgbClr val="002060"/>
                </a:solidFill>
                <a:latin typeface="Times New Roman" pitchFamily="18" charset="0"/>
                <a:cs typeface="Times New Roman" pitchFamily="18" charset="0"/>
              </a:rPr>
              <a:t> Local Government Area has accelerated the replacement of natural vegetation with impervious surfaces. This framework utilizes Landsat 8/9 satellite remote sensing across a 9-year decadal </a:t>
            </a:r>
            <a:r>
              <a:rPr sz="2000" dirty="0">
                <a:solidFill>
                  <a:srgbClr val="002060"/>
                </a:solidFill>
                <a:latin typeface="Times New Roman" pitchFamily="18" charset="0"/>
                <a:cs typeface="Times New Roman" pitchFamily="18" charset="0"/>
              </a:rPr>
              <a:t>window (2016–2025) to quantify the Surface Urban Heat Island (SUHI) effect. By computing NDVI, NDBI, MNDWI, and LST, this study models microclimate heating and cooling dynamics and delivers results via an interactive web </a:t>
            </a:r>
            <a:r>
              <a:rPr sz="2000" dirty="0" smtClean="0">
                <a:solidFill>
                  <a:srgbClr val="002060"/>
                </a:solidFill>
                <a:latin typeface="Times New Roman" pitchFamily="18" charset="0"/>
                <a:cs typeface="Times New Roman" pitchFamily="18" charset="0"/>
              </a:rPr>
              <a:t>dashboard</a:t>
            </a:r>
            <a:r>
              <a:rPr sz="2000" dirty="0">
                <a:latin typeface="Times New Roman" pitchFamily="18" charset="0"/>
                <a:cs typeface="Times New Roman" pitchFamily="18" charset="0"/>
              </a:rPr>
              <a:t>.</a:t>
            </a:r>
          </a:p>
          <a:p>
            <a:pPr algn="ctr"/>
            <a:r>
              <a:rPr sz="2000" dirty="0">
                <a:latin typeface="Times New Roman" pitchFamily="18" charset="0"/>
                <a:cs typeface="Times New Roman" pitchFamily="18" charset="0"/>
              </a:rPr>
              <a:t/>
            </a:r>
            <a:br>
              <a:rPr sz="2000" dirty="0">
                <a:latin typeface="Times New Roman" pitchFamily="18" charset="0"/>
                <a:cs typeface="Times New Roman" pitchFamily="18" charset="0"/>
              </a:rPr>
            </a:br>
            <a:r>
              <a:rPr lang="en-US" sz="2000" b="1" dirty="0" smtClean="0">
                <a:solidFill>
                  <a:schemeClr val="accent6">
                    <a:lumMod val="50000"/>
                  </a:schemeClr>
                </a:solidFill>
                <a:latin typeface="Times New Roman" pitchFamily="18" charset="0"/>
                <a:cs typeface="Times New Roman" pitchFamily="18" charset="0"/>
              </a:rPr>
              <a:t>DEDICATION</a:t>
            </a:r>
            <a:endParaRPr sz="2000" b="1" dirty="0">
              <a:solidFill>
                <a:schemeClr val="accent6">
                  <a:lumMod val="50000"/>
                </a:schemeClr>
              </a:solidFill>
              <a:latin typeface="Times New Roman" pitchFamily="18" charset="0"/>
              <a:cs typeface="Times New Roman" pitchFamily="18" charset="0"/>
            </a:endParaRPr>
          </a:p>
          <a:p>
            <a:pPr algn="just">
              <a:defRPr sz="1200"/>
            </a:pPr>
            <a:r>
              <a:rPr sz="2000" dirty="0">
                <a:solidFill>
                  <a:srgbClr val="002060"/>
                </a:solidFill>
                <a:latin typeface="Times New Roman" pitchFamily="18" charset="0"/>
                <a:cs typeface="Times New Roman" pitchFamily="18" charset="0"/>
              </a:rPr>
              <a:t>Dedicated to sustainable, data-driven urban planning in Nigeria and to every young analyst learning to turn satellite observations into actionable environmental protection decisions.</a:t>
            </a:r>
          </a:p>
          <a:p>
            <a:pPr algn="ctr"/>
            <a:r>
              <a:rPr sz="2000" dirty="0">
                <a:solidFill>
                  <a:srgbClr val="002060"/>
                </a:solidFill>
                <a:latin typeface="Times New Roman" pitchFamily="18" charset="0"/>
                <a:cs typeface="Times New Roman" pitchFamily="18" charset="0"/>
              </a:rPr>
              <a:t/>
            </a:r>
            <a:br>
              <a:rPr sz="2000" dirty="0">
                <a:solidFill>
                  <a:srgbClr val="002060"/>
                </a:solidFill>
                <a:latin typeface="Times New Roman" pitchFamily="18" charset="0"/>
                <a:cs typeface="Times New Roman" pitchFamily="18" charset="0"/>
              </a:rPr>
            </a:br>
            <a:r>
              <a:rPr lang="en-US" sz="2000" b="1" dirty="0" smtClean="0">
                <a:solidFill>
                  <a:schemeClr val="accent6">
                    <a:lumMod val="50000"/>
                  </a:schemeClr>
                </a:solidFill>
                <a:latin typeface="Times New Roman" pitchFamily="18" charset="0"/>
                <a:cs typeface="Times New Roman" pitchFamily="18" charset="0"/>
              </a:rPr>
              <a:t>ACKNOWLEDGEMENTS</a:t>
            </a:r>
            <a:endParaRPr sz="2000" b="1" dirty="0">
              <a:solidFill>
                <a:schemeClr val="accent6">
                  <a:lumMod val="50000"/>
                </a:schemeClr>
              </a:solidFill>
              <a:latin typeface="Times New Roman" pitchFamily="18" charset="0"/>
              <a:cs typeface="Times New Roman" pitchFamily="18" charset="0"/>
            </a:endParaRPr>
          </a:p>
          <a:p>
            <a:pPr algn="just">
              <a:defRPr sz="1200"/>
            </a:pPr>
            <a:r>
              <a:rPr sz="2000" dirty="0">
                <a:solidFill>
                  <a:srgbClr val="002060"/>
                </a:solidFill>
                <a:latin typeface="Times New Roman" pitchFamily="18" charset="0"/>
                <a:cs typeface="Times New Roman" pitchFamily="18" charset="0"/>
              </a:rPr>
              <a:t>I appreciate my academic supervisors and the Department of Computer Science for guidance. Special thanks go to the board of management and staff of Advanced Space Technology And Applications Laboratories, </a:t>
            </a:r>
            <a:r>
              <a:rPr sz="2000" dirty="0" err="1">
                <a:solidFill>
                  <a:srgbClr val="002060"/>
                </a:solidFill>
                <a:latin typeface="Times New Roman" pitchFamily="18" charset="0"/>
                <a:cs typeface="Times New Roman" pitchFamily="18" charset="0"/>
              </a:rPr>
              <a:t>Uyo</a:t>
            </a:r>
            <a:r>
              <a:rPr sz="2000" dirty="0">
                <a:solidFill>
                  <a:srgbClr val="002060"/>
                </a:solidFill>
                <a:latin typeface="Times New Roman" pitchFamily="18" charset="0"/>
                <a:cs typeface="Times New Roman" pitchFamily="18" charset="0"/>
              </a:rPr>
              <a:t>, </a:t>
            </a:r>
            <a:r>
              <a:rPr sz="2000" dirty="0" err="1">
                <a:solidFill>
                  <a:srgbClr val="002060"/>
                </a:solidFill>
                <a:latin typeface="Times New Roman" pitchFamily="18" charset="0"/>
                <a:cs typeface="Times New Roman" pitchFamily="18" charset="0"/>
              </a:rPr>
              <a:t>Akwa</a:t>
            </a:r>
            <a:r>
              <a:rPr sz="2000" dirty="0">
                <a:solidFill>
                  <a:srgbClr val="002060"/>
                </a:solidFill>
                <a:latin typeface="Times New Roman" pitchFamily="18" charset="0"/>
                <a:cs typeface="Times New Roman" pitchFamily="18" charset="0"/>
              </a:rPr>
              <a:t> </a:t>
            </a:r>
            <a:r>
              <a:rPr sz="2000" dirty="0" err="1">
                <a:solidFill>
                  <a:srgbClr val="002060"/>
                </a:solidFill>
                <a:latin typeface="Times New Roman" pitchFamily="18" charset="0"/>
                <a:cs typeface="Times New Roman" pitchFamily="18" charset="0"/>
              </a:rPr>
              <a:t>Ibom</a:t>
            </a:r>
            <a:r>
              <a:rPr sz="2000" dirty="0">
                <a:solidFill>
                  <a:srgbClr val="002060"/>
                </a:solidFill>
                <a:latin typeface="Times New Roman" pitchFamily="18" charset="0"/>
                <a:cs typeface="Times New Roman" pitchFamily="18" charset="0"/>
              </a:rPr>
              <a:t> State, for the placement opportunity and mentorship.</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D95F02"/>
          </a:solidFill>
          <a:ln>
            <a:solidFill>
              <a:srgbClr val="D95F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954107"/>
          </a:xfrm>
          <a:prstGeom prst="rect">
            <a:avLst/>
          </a:prstGeom>
          <a:noFill/>
        </p:spPr>
        <p:txBody>
          <a:bodyPr wrap="square">
            <a:spAutoFit/>
          </a:bodyPr>
          <a:lstStyle/>
          <a:p>
            <a:pPr algn="ctr">
              <a:defRPr sz="2400" b="1">
                <a:solidFill>
                  <a:srgbClr val="1B365D"/>
                </a:solidFill>
              </a:defRPr>
            </a:pPr>
            <a:r>
              <a:rPr sz="3600" dirty="0">
                <a:latin typeface="Times New Roman" pitchFamily="18" charset="0"/>
                <a:cs typeface="Times New Roman" pitchFamily="18" charset="0"/>
              </a:rPr>
              <a:t>Project Introduction &amp; Research Framing</a:t>
            </a:r>
          </a:p>
          <a:p>
            <a:pPr algn="ctr">
              <a:defRPr sz="1000" b="1">
                <a:solidFill>
                  <a:srgbClr val="D95F02"/>
                </a:solidFill>
              </a:defRPr>
            </a:pPr>
            <a:r>
              <a:rPr sz="2000" dirty="0">
                <a:latin typeface="Times New Roman" pitchFamily="18" charset="0"/>
                <a:cs typeface="Times New Roman" pitchFamily="18" charset="0"/>
              </a:rPr>
              <a:t>PROJECT FOUNDATION</a:t>
            </a:r>
          </a:p>
        </p:txBody>
      </p:sp>
      <p:sp>
        <p:nvSpPr>
          <p:cNvPr id="4" name="TextBox 3"/>
          <p:cNvSpPr txBox="1"/>
          <p:nvPr/>
        </p:nvSpPr>
        <p:spPr>
          <a:xfrm>
            <a:off x="731520" y="1188720"/>
            <a:ext cx="10698480" cy="5632311"/>
          </a:xfrm>
          <a:prstGeom prst="rect">
            <a:avLst/>
          </a:prstGeom>
          <a:noFill/>
        </p:spPr>
        <p:txBody>
          <a:bodyPr wrap="square">
            <a:spAutoFit/>
          </a:bodyPr>
          <a:lstStyle/>
          <a:p>
            <a:pPr>
              <a:defRPr sz="1600" b="1">
                <a:solidFill>
                  <a:srgbClr val="1B365D"/>
                </a:solidFill>
              </a:defRPr>
            </a:pPr>
            <a:endParaRPr lang="en-US" sz="2400" dirty="0">
              <a:latin typeface="Times New Roman" pitchFamily="18" charset="0"/>
              <a:cs typeface="Times New Roman" pitchFamily="18" charset="0"/>
            </a:endParaRPr>
          </a:p>
          <a:p>
            <a:pPr>
              <a:defRPr sz="1600" b="1">
                <a:solidFill>
                  <a:srgbClr val="1B365D"/>
                </a:solidFill>
              </a:defRPr>
            </a:pPr>
            <a:r>
              <a:rPr sz="2400" dirty="0" smtClean="0">
                <a:solidFill>
                  <a:schemeClr val="accent6">
                    <a:lumMod val="50000"/>
                  </a:schemeClr>
                </a:solidFill>
                <a:latin typeface="Times New Roman" pitchFamily="18" charset="0"/>
                <a:cs typeface="Times New Roman" pitchFamily="18" charset="0"/>
              </a:rPr>
              <a:t>Project</a:t>
            </a:r>
            <a:r>
              <a:rPr sz="2400" dirty="0" smtClean="0">
                <a:latin typeface="Times New Roman" pitchFamily="18" charset="0"/>
                <a:cs typeface="Times New Roman" pitchFamily="18" charset="0"/>
              </a:rPr>
              <a:t> </a:t>
            </a:r>
            <a:r>
              <a:rPr sz="2400" dirty="0">
                <a:solidFill>
                  <a:schemeClr val="accent6">
                    <a:lumMod val="50000"/>
                  </a:schemeClr>
                </a:solidFill>
                <a:latin typeface="Times New Roman" pitchFamily="18" charset="0"/>
                <a:cs typeface="Times New Roman" pitchFamily="18" charset="0"/>
              </a:rPr>
              <a:t>Aim</a:t>
            </a:r>
          </a:p>
          <a:p>
            <a:pPr>
              <a:defRPr sz="1200"/>
            </a:pPr>
            <a:r>
              <a:rPr sz="2400" dirty="0">
                <a:solidFill>
                  <a:schemeClr val="tx2"/>
                </a:solidFill>
                <a:latin typeface="Times New Roman" pitchFamily="18" charset="0"/>
                <a:cs typeface="Times New Roman" pitchFamily="18" charset="0"/>
              </a:rPr>
              <a:t>To develop a reproducible Python-based geospatial analytics framework that quantifies Surface Urban Heat Island patterns in </a:t>
            </a:r>
            <a:r>
              <a:rPr sz="2400" dirty="0" err="1">
                <a:solidFill>
                  <a:schemeClr val="tx2"/>
                </a:solidFill>
                <a:latin typeface="Times New Roman" pitchFamily="18" charset="0"/>
                <a:cs typeface="Times New Roman" pitchFamily="18" charset="0"/>
              </a:rPr>
              <a:t>Uyo</a:t>
            </a:r>
            <a:r>
              <a:rPr sz="2400" dirty="0">
                <a:solidFill>
                  <a:schemeClr val="tx2"/>
                </a:solidFill>
                <a:latin typeface="Times New Roman" pitchFamily="18" charset="0"/>
                <a:cs typeface="Times New Roman" pitchFamily="18" charset="0"/>
              </a:rPr>
              <a:t> LGA using Landsat 8/9 Level-2 data, and delivers results through an interactive web application.</a:t>
            </a:r>
          </a:p>
          <a:p>
            <a:r>
              <a:rPr sz="2400" dirty="0">
                <a:latin typeface="Times New Roman" pitchFamily="18" charset="0"/>
                <a:cs typeface="Times New Roman" pitchFamily="18" charset="0"/>
              </a:rPr>
              <a:t/>
            </a:r>
            <a:br>
              <a:rPr sz="2400" dirty="0">
                <a:latin typeface="Times New Roman" pitchFamily="18" charset="0"/>
                <a:cs typeface="Times New Roman" pitchFamily="18" charset="0"/>
              </a:rPr>
            </a:br>
            <a:r>
              <a:rPr sz="2400" b="1" dirty="0">
                <a:solidFill>
                  <a:schemeClr val="accent6">
                    <a:lumMod val="50000"/>
                  </a:schemeClr>
                </a:solidFill>
                <a:latin typeface="Times New Roman" pitchFamily="18" charset="0"/>
                <a:cs typeface="Times New Roman" pitchFamily="18" charset="0"/>
              </a:rPr>
              <a:t>Research Questions</a:t>
            </a:r>
          </a:p>
          <a:p>
            <a:pPr>
              <a:defRPr sz="1200"/>
            </a:pPr>
            <a:r>
              <a:rPr sz="2400" dirty="0">
                <a:solidFill>
                  <a:schemeClr val="tx2"/>
                </a:solidFill>
                <a:latin typeface="Times New Roman" pitchFamily="18" charset="0"/>
                <a:cs typeface="Times New Roman" pitchFamily="18" charset="0"/>
              </a:rPr>
              <a:t>1. What is the spatial pattern and intensity of daytime land surface temperature across </a:t>
            </a:r>
            <a:r>
              <a:rPr sz="2400" dirty="0" err="1">
                <a:solidFill>
                  <a:schemeClr val="tx2"/>
                </a:solidFill>
                <a:latin typeface="Times New Roman" pitchFamily="18" charset="0"/>
                <a:cs typeface="Times New Roman" pitchFamily="18" charset="0"/>
              </a:rPr>
              <a:t>Uyo</a:t>
            </a:r>
            <a:r>
              <a:rPr sz="2400" dirty="0">
                <a:solidFill>
                  <a:schemeClr val="tx2"/>
                </a:solidFill>
                <a:latin typeface="Times New Roman" pitchFamily="18" charset="0"/>
                <a:cs typeface="Times New Roman" pitchFamily="18" charset="0"/>
              </a:rPr>
              <a:t> LGA?</a:t>
            </a:r>
            <a:br>
              <a:rPr sz="2400" dirty="0">
                <a:solidFill>
                  <a:schemeClr val="tx2"/>
                </a:solidFill>
                <a:latin typeface="Times New Roman" pitchFamily="18" charset="0"/>
                <a:cs typeface="Times New Roman" pitchFamily="18" charset="0"/>
              </a:rPr>
            </a:br>
            <a:r>
              <a:rPr sz="2400" dirty="0">
                <a:solidFill>
                  <a:schemeClr val="tx2"/>
                </a:solidFill>
                <a:latin typeface="Times New Roman" pitchFamily="18" charset="0"/>
                <a:cs typeface="Times New Roman" pitchFamily="18" charset="0"/>
              </a:rPr>
              <a:t>2. How have vegetation canopy (NDVI) and built-up density (NDBI) signals shifted across epochs (2016–2025)?</a:t>
            </a:r>
            <a:br>
              <a:rPr sz="2400" dirty="0">
                <a:solidFill>
                  <a:schemeClr val="tx2"/>
                </a:solidFill>
                <a:latin typeface="Times New Roman" pitchFamily="18" charset="0"/>
                <a:cs typeface="Times New Roman" pitchFamily="18" charset="0"/>
              </a:rPr>
            </a:br>
            <a:r>
              <a:rPr sz="2400" dirty="0">
                <a:solidFill>
                  <a:schemeClr val="tx2"/>
                </a:solidFill>
                <a:latin typeface="Times New Roman" pitchFamily="18" charset="0"/>
                <a:cs typeface="Times New Roman" pitchFamily="18" charset="0"/>
              </a:rPr>
              <a:t>3. How strongly do vegetation density and impervious surfaces explain microclimate temperature variation?</a:t>
            </a:r>
            <a:br>
              <a:rPr sz="2400" dirty="0">
                <a:solidFill>
                  <a:schemeClr val="tx2"/>
                </a:solidFill>
                <a:latin typeface="Times New Roman" pitchFamily="18" charset="0"/>
                <a:cs typeface="Times New Roman" pitchFamily="18" charset="0"/>
              </a:rPr>
            </a:br>
            <a:r>
              <a:rPr sz="2400" dirty="0">
                <a:solidFill>
                  <a:schemeClr val="tx2"/>
                </a:solidFill>
                <a:latin typeface="Times New Roman" pitchFamily="18" charset="0"/>
                <a:cs typeface="Times New Roman" pitchFamily="18" charset="0"/>
              </a:rPr>
              <a:t>4. How can satellite data products be deployed into interactive tools for decision-makers?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D95F02"/>
          </a:solidFill>
          <a:ln>
            <a:solidFill>
              <a:srgbClr val="D95F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892552"/>
          </a:xfrm>
          <a:prstGeom prst="rect">
            <a:avLst/>
          </a:prstGeom>
          <a:noFill/>
        </p:spPr>
        <p:txBody>
          <a:bodyPr wrap="square">
            <a:spAutoFit/>
          </a:bodyPr>
          <a:lstStyle/>
          <a:p>
            <a:pPr algn="ctr">
              <a:defRPr sz="2400" b="1">
                <a:solidFill>
                  <a:srgbClr val="1B365D"/>
                </a:solidFill>
              </a:defRPr>
            </a:pPr>
            <a:r>
              <a:rPr sz="3200" dirty="0">
                <a:latin typeface="Times New Roman" pitchFamily="18" charset="0"/>
                <a:cs typeface="Times New Roman" pitchFamily="18" charset="0"/>
              </a:rPr>
              <a:t>Industrial Training &amp; Computer Science Relevance</a:t>
            </a:r>
          </a:p>
          <a:p>
            <a:pPr algn="ctr">
              <a:defRPr sz="1000" b="1">
                <a:solidFill>
                  <a:srgbClr val="D95F02"/>
                </a:solidFill>
              </a:defRPr>
            </a:pPr>
            <a:r>
              <a:rPr sz="2000" dirty="0">
                <a:latin typeface="Times New Roman" pitchFamily="18" charset="0"/>
                <a:cs typeface="Times New Roman" pitchFamily="18" charset="0"/>
              </a:rPr>
              <a:t>HOST ALIGNMENT</a:t>
            </a:r>
          </a:p>
        </p:txBody>
      </p:sp>
      <p:sp>
        <p:nvSpPr>
          <p:cNvPr id="4" name="TextBox 3"/>
          <p:cNvSpPr txBox="1"/>
          <p:nvPr/>
        </p:nvSpPr>
        <p:spPr>
          <a:xfrm>
            <a:off x="731520" y="1188720"/>
            <a:ext cx="10698480" cy="5093702"/>
          </a:xfrm>
          <a:prstGeom prst="rect">
            <a:avLst/>
          </a:prstGeom>
          <a:noFill/>
        </p:spPr>
        <p:txBody>
          <a:bodyPr wrap="square">
            <a:spAutoFit/>
          </a:bodyPr>
          <a:lstStyle/>
          <a:p>
            <a:pPr>
              <a:defRPr sz="1600" b="1">
                <a:solidFill>
                  <a:srgbClr val="1B365D"/>
                </a:solidFill>
              </a:defRPr>
            </a:pPr>
            <a:r>
              <a:rPr sz="2500" dirty="0" smtClean="0">
                <a:solidFill>
                  <a:schemeClr val="accent6">
                    <a:lumMod val="50000"/>
                  </a:schemeClr>
                </a:solidFill>
                <a:latin typeface="Times New Roman" pitchFamily="18" charset="0"/>
                <a:cs typeface="Times New Roman" pitchFamily="18" charset="0"/>
              </a:rPr>
              <a:t>Host Organization Alignment</a:t>
            </a:r>
          </a:p>
          <a:p>
            <a:pPr>
              <a:defRPr sz="1200"/>
            </a:pPr>
            <a:r>
              <a:rPr sz="2500" dirty="0" smtClean="0">
                <a:latin typeface="Times New Roman" pitchFamily="18" charset="0"/>
                <a:cs typeface="Times New Roman" pitchFamily="18" charset="0"/>
              </a:rPr>
              <a:t>• </a:t>
            </a:r>
            <a:r>
              <a:rPr sz="2500" dirty="0" smtClean="0">
                <a:solidFill>
                  <a:schemeClr val="tx2"/>
                </a:solidFill>
                <a:latin typeface="Times New Roman" pitchFamily="18" charset="0"/>
                <a:cs typeface="Times New Roman" pitchFamily="18" charset="0"/>
              </a:rPr>
              <a:t>Carried out at Advanced Space Technology And Applications Laboratories, </a:t>
            </a:r>
            <a:r>
              <a:rPr sz="2500" dirty="0" err="1" smtClean="0">
                <a:solidFill>
                  <a:schemeClr val="tx2"/>
                </a:solidFill>
                <a:latin typeface="Times New Roman" pitchFamily="18" charset="0"/>
                <a:cs typeface="Times New Roman" pitchFamily="18" charset="0"/>
              </a:rPr>
              <a:t>Uyo</a:t>
            </a:r>
            <a:r>
              <a:rPr sz="2500" dirty="0" smtClean="0">
                <a:solidFill>
                  <a:schemeClr val="tx2"/>
                </a:solidFill>
                <a:latin typeface="Times New Roman" pitchFamily="18" charset="0"/>
                <a:cs typeface="Times New Roman" pitchFamily="18" charset="0"/>
              </a:rPr>
              <a:t>, </a:t>
            </a:r>
            <a:r>
              <a:rPr sz="2500" dirty="0" err="1" smtClean="0">
                <a:solidFill>
                  <a:schemeClr val="tx2"/>
                </a:solidFill>
                <a:latin typeface="Times New Roman" pitchFamily="18" charset="0"/>
                <a:cs typeface="Times New Roman" pitchFamily="18" charset="0"/>
              </a:rPr>
              <a:t>Akwa</a:t>
            </a:r>
            <a:r>
              <a:rPr sz="2500" dirty="0" smtClean="0">
                <a:solidFill>
                  <a:schemeClr val="tx2"/>
                </a:solidFill>
                <a:latin typeface="Times New Roman" pitchFamily="18" charset="0"/>
                <a:cs typeface="Times New Roman" pitchFamily="18" charset="0"/>
              </a:rPr>
              <a:t> </a:t>
            </a:r>
            <a:r>
              <a:rPr sz="2500" dirty="0" err="1" smtClean="0">
                <a:solidFill>
                  <a:schemeClr val="tx2"/>
                </a:solidFill>
                <a:latin typeface="Times New Roman" pitchFamily="18" charset="0"/>
                <a:cs typeface="Times New Roman" pitchFamily="18" charset="0"/>
              </a:rPr>
              <a:t>Ibom</a:t>
            </a:r>
            <a:r>
              <a:rPr sz="2500" dirty="0" smtClean="0">
                <a:solidFill>
                  <a:schemeClr val="tx2"/>
                </a:solidFill>
                <a:latin typeface="Times New Roman" pitchFamily="18" charset="0"/>
                <a:cs typeface="Times New Roman" pitchFamily="18" charset="0"/>
              </a:rPr>
              <a:t> State.</a:t>
            </a:r>
            <a:br>
              <a:rPr sz="2500" dirty="0" smtClean="0">
                <a:solidFill>
                  <a:schemeClr val="tx2"/>
                </a:solidFill>
                <a:latin typeface="Times New Roman" pitchFamily="18" charset="0"/>
                <a:cs typeface="Times New Roman" pitchFamily="18" charset="0"/>
              </a:rPr>
            </a:br>
            <a:r>
              <a:rPr sz="2500" dirty="0" smtClean="0">
                <a:solidFill>
                  <a:schemeClr val="tx2"/>
                </a:solidFill>
                <a:latin typeface="Times New Roman" pitchFamily="18" charset="0"/>
                <a:cs typeface="Times New Roman" pitchFamily="18" charset="0"/>
              </a:rPr>
              <a:t>• Aligns directly with operational Earth Observation (EO) and Geospatial Information Systems (GIS) workflows</a:t>
            </a:r>
            <a:r>
              <a:rPr sz="2500" dirty="0" smtClean="0">
                <a:latin typeface="Times New Roman" pitchFamily="18" charset="0"/>
                <a:cs typeface="Times New Roman" pitchFamily="18" charset="0"/>
              </a:rPr>
              <a:t>.</a:t>
            </a:r>
          </a:p>
          <a:p>
            <a:r>
              <a:rPr sz="2500" dirty="0" smtClean="0">
                <a:latin typeface="Times New Roman" pitchFamily="18" charset="0"/>
                <a:cs typeface="Times New Roman" pitchFamily="18" charset="0"/>
              </a:rPr>
              <a:t/>
            </a:r>
            <a:br>
              <a:rPr sz="2500" dirty="0" smtClean="0">
                <a:latin typeface="Times New Roman" pitchFamily="18" charset="0"/>
                <a:cs typeface="Times New Roman" pitchFamily="18" charset="0"/>
              </a:rPr>
            </a:br>
            <a:r>
              <a:rPr sz="2500" b="1" dirty="0" smtClean="0">
                <a:solidFill>
                  <a:schemeClr val="accent6">
                    <a:lumMod val="50000"/>
                  </a:schemeClr>
                </a:solidFill>
                <a:latin typeface="Times New Roman" pitchFamily="18" charset="0"/>
                <a:cs typeface="Times New Roman" pitchFamily="18" charset="0"/>
              </a:rPr>
              <a:t>Computer Science &amp; Software Engineering Contribution</a:t>
            </a:r>
          </a:p>
          <a:p>
            <a:pPr>
              <a:defRPr sz="1200"/>
            </a:pPr>
            <a:r>
              <a:rPr sz="2500" dirty="0" smtClean="0">
                <a:latin typeface="Times New Roman" pitchFamily="18" charset="0"/>
                <a:cs typeface="Times New Roman" pitchFamily="18" charset="0"/>
              </a:rPr>
              <a:t>• </a:t>
            </a:r>
            <a:r>
              <a:rPr sz="2500" dirty="0" smtClean="0">
                <a:solidFill>
                  <a:schemeClr val="tx2"/>
                </a:solidFill>
                <a:latin typeface="Times New Roman" pitchFamily="18" charset="0"/>
                <a:cs typeface="Times New Roman" pitchFamily="18" charset="0"/>
              </a:rPr>
              <a:t>Automated Framework </a:t>
            </a:r>
            <a:r>
              <a:rPr sz="2500" dirty="0" err="1" smtClean="0">
                <a:solidFill>
                  <a:schemeClr val="tx2"/>
                </a:solidFill>
                <a:latin typeface="Times New Roman" pitchFamily="18" charset="0"/>
                <a:cs typeface="Times New Roman" pitchFamily="18" charset="0"/>
              </a:rPr>
              <a:t>vs</a:t>
            </a:r>
            <a:r>
              <a:rPr sz="2500" dirty="0" smtClean="0">
                <a:solidFill>
                  <a:schemeClr val="tx2"/>
                </a:solidFill>
                <a:latin typeface="Times New Roman" pitchFamily="18" charset="0"/>
                <a:cs typeface="Times New Roman" pitchFamily="18" charset="0"/>
              </a:rPr>
              <a:t> Manual GIS: Replaces non-reproducible manual software clicks with a 100% automated Python data framework.</a:t>
            </a:r>
            <a:br>
              <a:rPr sz="2500" dirty="0" smtClean="0">
                <a:solidFill>
                  <a:schemeClr val="tx2"/>
                </a:solidFill>
                <a:latin typeface="Times New Roman" pitchFamily="18" charset="0"/>
                <a:cs typeface="Times New Roman" pitchFamily="18" charset="0"/>
              </a:rPr>
            </a:br>
            <a:r>
              <a:rPr sz="2500" dirty="0" smtClean="0">
                <a:solidFill>
                  <a:schemeClr val="tx2"/>
                </a:solidFill>
                <a:latin typeface="Times New Roman" pitchFamily="18" charset="0"/>
                <a:cs typeface="Times New Roman" pitchFamily="18" charset="0"/>
              </a:rPr>
              <a:t>• Open-Source Ecosystem: Built entirely with Python (</a:t>
            </a:r>
            <a:r>
              <a:rPr sz="2500" dirty="0" err="1" smtClean="0">
                <a:solidFill>
                  <a:schemeClr val="tx2"/>
                </a:solidFill>
                <a:latin typeface="Times New Roman" pitchFamily="18" charset="0"/>
                <a:cs typeface="Times New Roman" pitchFamily="18" charset="0"/>
              </a:rPr>
              <a:t>Rasterio</a:t>
            </a:r>
            <a:r>
              <a:rPr sz="2500" dirty="0" smtClean="0">
                <a:solidFill>
                  <a:schemeClr val="tx2"/>
                </a:solidFill>
                <a:latin typeface="Times New Roman" pitchFamily="18" charset="0"/>
                <a:cs typeface="Times New Roman" pitchFamily="18" charset="0"/>
              </a:rPr>
              <a:t>, </a:t>
            </a:r>
            <a:r>
              <a:rPr sz="2500" dirty="0" err="1" smtClean="0">
                <a:solidFill>
                  <a:schemeClr val="tx2"/>
                </a:solidFill>
                <a:latin typeface="Times New Roman" pitchFamily="18" charset="0"/>
                <a:cs typeface="Times New Roman" pitchFamily="18" charset="0"/>
              </a:rPr>
              <a:t>GeoPandas</a:t>
            </a:r>
            <a:r>
              <a:rPr sz="2500" dirty="0" smtClean="0">
                <a:solidFill>
                  <a:schemeClr val="tx2"/>
                </a:solidFill>
                <a:latin typeface="Times New Roman" pitchFamily="18" charset="0"/>
                <a:cs typeface="Times New Roman" pitchFamily="18" charset="0"/>
              </a:rPr>
              <a:t>, </a:t>
            </a:r>
            <a:r>
              <a:rPr sz="2500" dirty="0" err="1" smtClean="0">
                <a:solidFill>
                  <a:schemeClr val="tx2"/>
                </a:solidFill>
                <a:latin typeface="Times New Roman" pitchFamily="18" charset="0"/>
                <a:cs typeface="Times New Roman" pitchFamily="18" charset="0"/>
              </a:rPr>
              <a:t>PySTAC</a:t>
            </a:r>
            <a:r>
              <a:rPr sz="2500" dirty="0" smtClean="0">
                <a:solidFill>
                  <a:schemeClr val="tx2"/>
                </a:solidFill>
                <a:latin typeface="Times New Roman" pitchFamily="18" charset="0"/>
                <a:cs typeface="Times New Roman" pitchFamily="18" charset="0"/>
              </a:rPr>
              <a:t>, </a:t>
            </a:r>
            <a:r>
              <a:rPr sz="2500" dirty="0" err="1" smtClean="0">
                <a:solidFill>
                  <a:schemeClr val="tx2"/>
                </a:solidFill>
                <a:latin typeface="Times New Roman" pitchFamily="18" charset="0"/>
                <a:cs typeface="Times New Roman" pitchFamily="18" charset="0"/>
              </a:rPr>
              <a:t>Plotly</a:t>
            </a:r>
            <a:r>
              <a:rPr sz="2500" dirty="0" smtClean="0">
                <a:solidFill>
                  <a:schemeClr val="tx2"/>
                </a:solidFill>
                <a:latin typeface="Times New Roman" pitchFamily="18" charset="0"/>
                <a:cs typeface="Times New Roman" pitchFamily="18" charset="0"/>
              </a:rPr>
              <a:t>, </a:t>
            </a:r>
            <a:r>
              <a:rPr sz="2500" dirty="0" err="1" smtClean="0">
                <a:solidFill>
                  <a:schemeClr val="tx2"/>
                </a:solidFill>
                <a:latin typeface="Times New Roman" pitchFamily="18" charset="0"/>
                <a:cs typeface="Times New Roman" pitchFamily="18" charset="0"/>
              </a:rPr>
              <a:t>Streamlit</a:t>
            </a:r>
            <a:r>
              <a:rPr sz="2500" dirty="0" smtClean="0">
                <a:solidFill>
                  <a:schemeClr val="tx2"/>
                </a:solidFill>
                <a:latin typeface="Times New Roman" pitchFamily="18" charset="0"/>
                <a:cs typeface="Times New Roman" pitchFamily="18" charset="0"/>
              </a:rPr>
              <a:t>), eliminating expensive software licensing bottlenecks.</a:t>
            </a:r>
            <a:br>
              <a:rPr sz="2500" dirty="0" smtClean="0">
                <a:solidFill>
                  <a:schemeClr val="tx2"/>
                </a:solidFill>
                <a:latin typeface="Times New Roman" pitchFamily="18" charset="0"/>
                <a:cs typeface="Times New Roman" pitchFamily="18" charset="0"/>
              </a:rPr>
            </a:br>
            <a:r>
              <a:rPr sz="2500" dirty="0" smtClean="0">
                <a:solidFill>
                  <a:schemeClr val="tx2"/>
                </a:solidFill>
                <a:latin typeface="Times New Roman" pitchFamily="18" charset="0"/>
                <a:cs typeface="Times New Roman" pitchFamily="18" charset="0"/>
              </a:rPr>
              <a:t>• Cloud Deployment: End-to-end integration from Google </a:t>
            </a:r>
            <a:r>
              <a:rPr sz="2500" dirty="0" err="1" smtClean="0">
                <a:solidFill>
                  <a:schemeClr val="tx2"/>
                </a:solidFill>
                <a:latin typeface="Times New Roman" pitchFamily="18" charset="0"/>
                <a:cs typeface="Times New Roman" pitchFamily="18" charset="0"/>
              </a:rPr>
              <a:t>Colab</a:t>
            </a:r>
            <a:r>
              <a:rPr sz="2500" dirty="0" smtClean="0">
                <a:solidFill>
                  <a:schemeClr val="tx2"/>
                </a:solidFill>
                <a:latin typeface="Times New Roman" pitchFamily="18" charset="0"/>
                <a:cs typeface="Times New Roman" pitchFamily="18" charset="0"/>
              </a:rPr>
              <a:t> cloud processing to VS Code local execution and 24/7 </a:t>
            </a:r>
            <a:r>
              <a:rPr sz="2500" dirty="0" err="1" smtClean="0">
                <a:solidFill>
                  <a:schemeClr val="tx2"/>
                </a:solidFill>
                <a:latin typeface="Times New Roman" pitchFamily="18" charset="0"/>
                <a:cs typeface="Times New Roman" pitchFamily="18" charset="0"/>
              </a:rPr>
              <a:t>Streamlit</a:t>
            </a:r>
            <a:r>
              <a:rPr sz="2500" dirty="0" smtClean="0">
                <a:solidFill>
                  <a:schemeClr val="tx2"/>
                </a:solidFill>
                <a:latin typeface="Times New Roman" pitchFamily="18" charset="0"/>
                <a:cs typeface="Times New Roman" pitchFamily="18" charset="0"/>
              </a:rPr>
              <a:t> Cloud hosting.</a:t>
            </a:r>
            <a:endParaRPr sz="2500" dirty="0">
              <a:solidFill>
                <a:schemeClr val="tx2"/>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D95F02"/>
          </a:solidFill>
          <a:ln>
            <a:solidFill>
              <a:srgbClr val="D95F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830997"/>
          </a:xfrm>
          <a:prstGeom prst="rect">
            <a:avLst/>
          </a:prstGeom>
          <a:noFill/>
        </p:spPr>
        <p:txBody>
          <a:bodyPr wrap="square">
            <a:spAutoFit/>
          </a:bodyPr>
          <a:lstStyle/>
          <a:p>
            <a:pPr algn="ctr">
              <a:defRPr sz="2400" b="1">
                <a:solidFill>
                  <a:srgbClr val="1B365D"/>
                </a:solidFill>
              </a:defRPr>
            </a:pPr>
            <a:r>
              <a:rPr lang="en-US" sz="2800" dirty="0" smtClean="0">
                <a:latin typeface="Times New Roman" pitchFamily="18" charset="0"/>
                <a:cs typeface="Times New Roman" pitchFamily="18" charset="0"/>
              </a:rPr>
              <a:t>STUDY AREA BOUNDARY &amp; DATASET SPECIFICATIONS</a:t>
            </a:r>
          </a:p>
          <a:p>
            <a:pPr algn="ctr">
              <a:defRPr sz="1000" b="1">
                <a:solidFill>
                  <a:srgbClr val="D95F02"/>
                </a:solidFill>
              </a:defRPr>
            </a:pPr>
            <a:r>
              <a:rPr lang="en-US" sz="2000" dirty="0" smtClean="0">
                <a:latin typeface="Times New Roman" pitchFamily="18" charset="0"/>
                <a:cs typeface="Times New Roman" pitchFamily="18" charset="0"/>
              </a:rPr>
              <a:t>DATA FRAMEWORK</a:t>
            </a:r>
            <a:endParaRPr lang="en-US" sz="2000" dirty="0">
              <a:latin typeface="Times New Roman" pitchFamily="18" charset="0"/>
              <a:cs typeface="Times New Roman" pitchFamily="18" charset="0"/>
            </a:endParaRPr>
          </a:p>
        </p:txBody>
      </p:sp>
      <p:pic>
        <p:nvPicPr>
          <p:cNvPr id="4" name="Picture 3" descr="uyo_boundary.png"/>
          <p:cNvPicPr>
            <a:picLocks noChangeAspect="1"/>
          </p:cNvPicPr>
          <p:nvPr/>
        </p:nvPicPr>
        <p:blipFill>
          <a:blip r:embed="rId2"/>
          <a:stretch>
            <a:fillRect/>
          </a:stretch>
        </p:blipFill>
        <p:spPr>
          <a:xfrm>
            <a:off x="103031" y="1196757"/>
            <a:ext cx="5212080" cy="5212080"/>
          </a:xfrm>
          <a:prstGeom prst="rect">
            <a:avLst/>
          </a:prstGeom>
        </p:spPr>
      </p:pic>
      <p:sp>
        <p:nvSpPr>
          <p:cNvPr id="5" name="TextBox 4"/>
          <p:cNvSpPr txBox="1"/>
          <p:nvPr/>
        </p:nvSpPr>
        <p:spPr>
          <a:xfrm>
            <a:off x="5460642" y="1115764"/>
            <a:ext cx="5943600" cy="5632311"/>
          </a:xfrm>
          <a:prstGeom prst="rect">
            <a:avLst/>
          </a:prstGeom>
          <a:noFill/>
        </p:spPr>
        <p:txBody>
          <a:bodyPr wrap="square">
            <a:spAutoFit/>
          </a:bodyPr>
          <a:lstStyle/>
          <a:p>
            <a:pPr algn="ctr">
              <a:defRPr sz="1600" b="1">
                <a:solidFill>
                  <a:srgbClr val="1B365D"/>
                </a:solidFill>
              </a:defRPr>
            </a:pPr>
            <a:r>
              <a:rPr sz="2500" dirty="0">
                <a:solidFill>
                  <a:schemeClr val="accent6">
                    <a:lumMod val="50000"/>
                  </a:schemeClr>
                </a:solidFill>
                <a:latin typeface="Times New Roman" pitchFamily="18" charset="0"/>
                <a:cs typeface="Times New Roman" pitchFamily="18" charset="0"/>
              </a:rPr>
              <a:t>Study Area Specifications</a:t>
            </a:r>
          </a:p>
          <a:p>
            <a:pPr>
              <a:defRPr sz="1200"/>
            </a:pPr>
            <a:r>
              <a:rPr sz="2400" dirty="0">
                <a:solidFill>
                  <a:srgbClr val="002060"/>
                </a:solidFill>
                <a:latin typeface="Times New Roman" pitchFamily="18" charset="0"/>
                <a:cs typeface="Times New Roman" pitchFamily="18" charset="0"/>
              </a:rPr>
              <a:t>• Location: </a:t>
            </a:r>
            <a:r>
              <a:rPr sz="2400" dirty="0" err="1">
                <a:solidFill>
                  <a:srgbClr val="002060"/>
                </a:solidFill>
                <a:latin typeface="Times New Roman" pitchFamily="18" charset="0"/>
                <a:cs typeface="Times New Roman" pitchFamily="18" charset="0"/>
              </a:rPr>
              <a:t>Uyo</a:t>
            </a:r>
            <a:r>
              <a:rPr sz="2400" dirty="0">
                <a:solidFill>
                  <a:srgbClr val="002060"/>
                </a:solidFill>
                <a:latin typeface="Times New Roman" pitchFamily="18" charset="0"/>
                <a:cs typeface="Times New Roman" pitchFamily="18" charset="0"/>
              </a:rPr>
              <a:t> Local Government Area (LGA), </a:t>
            </a:r>
            <a:r>
              <a:rPr sz="2400" dirty="0" err="1">
                <a:solidFill>
                  <a:srgbClr val="002060"/>
                </a:solidFill>
                <a:latin typeface="Times New Roman" pitchFamily="18" charset="0"/>
                <a:cs typeface="Times New Roman" pitchFamily="18" charset="0"/>
              </a:rPr>
              <a:t>Akwa</a:t>
            </a:r>
            <a:r>
              <a:rPr sz="2400" dirty="0">
                <a:solidFill>
                  <a:srgbClr val="002060"/>
                </a:solidFill>
                <a:latin typeface="Times New Roman" pitchFamily="18" charset="0"/>
                <a:cs typeface="Times New Roman" pitchFamily="18" charset="0"/>
              </a:rPr>
              <a:t> </a:t>
            </a:r>
            <a:r>
              <a:rPr sz="2400" dirty="0" err="1">
                <a:solidFill>
                  <a:srgbClr val="002060"/>
                </a:solidFill>
                <a:latin typeface="Times New Roman" pitchFamily="18" charset="0"/>
                <a:cs typeface="Times New Roman" pitchFamily="18" charset="0"/>
              </a:rPr>
              <a:t>Ibom</a:t>
            </a:r>
            <a:r>
              <a:rPr sz="2400" dirty="0">
                <a:solidFill>
                  <a:srgbClr val="002060"/>
                </a:solidFill>
                <a:latin typeface="Times New Roman" pitchFamily="18" charset="0"/>
                <a:cs typeface="Times New Roman" pitchFamily="18" charset="0"/>
              </a:rPr>
              <a:t> State (~139.41 km²).</a:t>
            </a:r>
            <a:br>
              <a:rPr sz="2400" dirty="0">
                <a:solidFill>
                  <a:srgbClr val="002060"/>
                </a:solidFill>
                <a:latin typeface="Times New Roman" pitchFamily="18" charset="0"/>
                <a:cs typeface="Times New Roman" pitchFamily="18" charset="0"/>
              </a:rPr>
            </a:br>
            <a:r>
              <a:rPr sz="2400" dirty="0">
                <a:solidFill>
                  <a:srgbClr val="002060"/>
                </a:solidFill>
                <a:latin typeface="Times New Roman" pitchFamily="18" charset="0"/>
                <a:cs typeface="Times New Roman" pitchFamily="18" charset="0"/>
              </a:rPr>
              <a:t>• Spatial CRS: EPSG:4326 (Display), UTM Zone 32N / EPSG:32632 (Analysis).</a:t>
            </a:r>
          </a:p>
          <a:p>
            <a:pPr algn="ctr"/>
            <a:r>
              <a:rPr sz="2400" dirty="0">
                <a:solidFill>
                  <a:srgbClr val="002060"/>
                </a:solidFill>
                <a:latin typeface="Times New Roman" pitchFamily="18" charset="0"/>
                <a:cs typeface="Times New Roman" pitchFamily="18" charset="0"/>
              </a:rPr>
              <a:t/>
            </a:r>
            <a:br>
              <a:rPr sz="2400" dirty="0">
                <a:solidFill>
                  <a:srgbClr val="002060"/>
                </a:solidFill>
                <a:latin typeface="Times New Roman" pitchFamily="18" charset="0"/>
                <a:cs typeface="Times New Roman" pitchFamily="18" charset="0"/>
              </a:rPr>
            </a:br>
            <a:r>
              <a:rPr sz="2400" b="1" dirty="0">
                <a:solidFill>
                  <a:schemeClr val="accent6">
                    <a:lumMod val="50000"/>
                  </a:schemeClr>
                </a:solidFill>
                <a:latin typeface="Times New Roman" pitchFamily="18" charset="0"/>
                <a:cs typeface="Times New Roman" pitchFamily="18" charset="0"/>
              </a:rPr>
              <a:t>Satellite Dataset &amp; Quality Control</a:t>
            </a:r>
          </a:p>
          <a:p>
            <a:pPr>
              <a:defRPr sz="1200"/>
            </a:pPr>
            <a:r>
              <a:rPr sz="2400" dirty="0">
                <a:solidFill>
                  <a:srgbClr val="002060"/>
                </a:solidFill>
                <a:latin typeface="Times New Roman" pitchFamily="18" charset="0"/>
                <a:cs typeface="Times New Roman" pitchFamily="18" charset="0"/>
              </a:rPr>
              <a:t>• Source: USGS Landsat 8/9 Collection 2 Level-2 Surface Reflectance + Thermal (ST_B10).</a:t>
            </a:r>
            <a:br>
              <a:rPr sz="2400" dirty="0">
                <a:solidFill>
                  <a:srgbClr val="002060"/>
                </a:solidFill>
                <a:latin typeface="Times New Roman" pitchFamily="18" charset="0"/>
                <a:cs typeface="Times New Roman" pitchFamily="18" charset="0"/>
              </a:rPr>
            </a:br>
            <a:r>
              <a:rPr sz="2400" dirty="0">
                <a:solidFill>
                  <a:srgbClr val="002060"/>
                </a:solidFill>
                <a:latin typeface="Times New Roman" pitchFamily="18" charset="0"/>
                <a:cs typeface="Times New Roman" pitchFamily="18" charset="0"/>
              </a:rPr>
              <a:t>• 4 Dry-Season Epochs: Jan 04, 2016 | Jan 15, 2019 | Jan 24, 2022 | Jan 12, 2025.</a:t>
            </a:r>
            <a:br>
              <a:rPr sz="2400" dirty="0">
                <a:solidFill>
                  <a:srgbClr val="002060"/>
                </a:solidFill>
                <a:latin typeface="Times New Roman" pitchFamily="18" charset="0"/>
                <a:cs typeface="Times New Roman" pitchFamily="18" charset="0"/>
              </a:rPr>
            </a:br>
            <a:r>
              <a:rPr sz="2400" dirty="0">
                <a:solidFill>
                  <a:srgbClr val="002060"/>
                </a:solidFill>
                <a:latin typeface="Times New Roman" pitchFamily="18" charset="0"/>
                <a:cs typeface="Times New Roman" pitchFamily="18" charset="0"/>
              </a:rPr>
              <a:t>• QA </a:t>
            </a:r>
            <a:r>
              <a:rPr sz="2400" dirty="0" err="1">
                <a:solidFill>
                  <a:srgbClr val="002060"/>
                </a:solidFill>
                <a:latin typeface="Times New Roman" pitchFamily="18" charset="0"/>
                <a:cs typeface="Times New Roman" pitchFamily="18" charset="0"/>
              </a:rPr>
              <a:t>Bitmasking</a:t>
            </a:r>
            <a:r>
              <a:rPr sz="2400" dirty="0">
                <a:solidFill>
                  <a:srgbClr val="002060"/>
                </a:solidFill>
                <a:latin typeface="Times New Roman" pitchFamily="18" charset="0"/>
                <a:cs typeface="Times New Roman" pitchFamily="18" charset="0"/>
              </a:rPr>
              <a:t>: Applied bitmask filtering on QA_PIXEL to mask cloud and shadow artifacts</a:t>
            </a:r>
            <a:r>
              <a:rPr dirty="0">
                <a:solidFill>
                  <a:srgbClr val="002060"/>
                </a:solidFill>
              </a:rPr>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D95F02"/>
          </a:solidFill>
          <a:ln>
            <a:solidFill>
              <a:srgbClr val="D95F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769441"/>
          </a:xfrm>
          <a:prstGeom prst="rect">
            <a:avLst/>
          </a:prstGeom>
          <a:noFill/>
        </p:spPr>
        <p:txBody>
          <a:bodyPr wrap="square">
            <a:spAutoFit/>
          </a:bodyPr>
          <a:lstStyle/>
          <a:p>
            <a:pPr algn="ctr">
              <a:defRPr sz="2400" b="1">
                <a:solidFill>
                  <a:srgbClr val="1B365D"/>
                </a:solidFill>
              </a:defRPr>
            </a:pPr>
            <a:r>
              <a:rPr dirty="0">
                <a:latin typeface="Times New Roman" pitchFamily="18" charset="0"/>
                <a:cs typeface="Times New Roman" pitchFamily="18" charset="0"/>
              </a:rPr>
              <a:t>Geospatial Index Formulations &amp; Scale Factors</a:t>
            </a:r>
          </a:p>
          <a:p>
            <a:pPr algn="ctr">
              <a:defRPr sz="1000" b="1">
                <a:solidFill>
                  <a:srgbClr val="D95F02"/>
                </a:solidFill>
              </a:defRPr>
            </a:pPr>
            <a:r>
              <a:rPr sz="2000" dirty="0">
                <a:latin typeface="Times New Roman" pitchFamily="18" charset="0"/>
                <a:cs typeface="Times New Roman" pitchFamily="18" charset="0"/>
              </a:rPr>
              <a:t>METHODOLOGY</a:t>
            </a:r>
          </a:p>
        </p:txBody>
      </p:sp>
      <p:sp>
        <p:nvSpPr>
          <p:cNvPr id="4" name="TextBox 3"/>
          <p:cNvSpPr txBox="1"/>
          <p:nvPr/>
        </p:nvSpPr>
        <p:spPr>
          <a:xfrm>
            <a:off x="731520" y="1188720"/>
            <a:ext cx="10698480" cy="4801314"/>
          </a:xfrm>
          <a:prstGeom prst="rect">
            <a:avLst/>
          </a:prstGeom>
          <a:noFill/>
        </p:spPr>
        <p:txBody>
          <a:bodyPr wrap="square">
            <a:spAutoFit/>
          </a:bodyPr>
          <a:lstStyle/>
          <a:p>
            <a:pPr algn="ctr">
              <a:defRPr sz="1600" b="1">
                <a:solidFill>
                  <a:srgbClr val="1B365D"/>
                </a:solidFill>
              </a:defRPr>
            </a:pPr>
            <a:endParaRPr lang="en-US" sz="2550" dirty="0" smtClean="0">
              <a:solidFill>
                <a:schemeClr val="accent6">
                  <a:lumMod val="50000"/>
                </a:schemeClr>
              </a:solidFill>
              <a:latin typeface="Times New Roman" pitchFamily="18" charset="0"/>
              <a:cs typeface="Times New Roman" pitchFamily="18" charset="0"/>
            </a:endParaRPr>
          </a:p>
          <a:p>
            <a:pPr algn="ctr">
              <a:defRPr sz="1600" b="1">
                <a:solidFill>
                  <a:srgbClr val="1B365D"/>
                </a:solidFill>
              </a:defRPr>
            </a:pPr>
            <a:r>
              <a:rPr lang="en-US" sz="2550" dirty="0" smtClean="0">
                <a:solidFill>
                  <a:schemeClr val="accent6">
                    <a:lumMod val="50000"/>
                  </a:schemeClr>
                </a:solidFill>
                <a:latin typeface="Times New Roman" pitchFamily="18" charset="0"/>
                <a:cs typeface="Times New Roman" pitchFamily="18" charset="0"/>
              </a:rPr>
              <a:t>USGS LEVEL-2 RADIOMETRIC SCALING</a:t>
            </a:r>
          </a:p>
          <a:p>
            <a:pPr>
              <a:defRPr sz="1300"/>
            </a:pPr>
            <a:r>
              <a:rPr sz="2550" dirty="0" smtClean="0">
                <a:solidFill>
                  <a:srgbClr val="002060"/>
                </a:solidFill>
                <a:latin typeface="Times New Roman" pitchFamily="18" charset="0"/>
                <a:cs typeface="Times New Roman" pitchFamily="18" charset="0"/>
              </a:rPr>
              <a:t>• </a:t>
            </a:r>
            <a:r>
              <a:rPr sz="2550" b="1" dirty="0">
                <a:solidFill>
                  <a:srgbClr val="002060"/>
                </a:solidFill>
                <a:latin typeface="Times New Roman" pitchFamily="18" charset="0"/>
                <a:cs typeface="Times New Roman" pitchFamily="18" charset="0"/>
              </a:rPr>
              <a:t>Surface Reflectance:</a:t>
            </a:r>
            <a:r>
              <a:rPr sz="2550" dirty="0">
                <a:solidFill>
                  <a:srgbClr val="002060"/>
                </a:solidFill>
                <a:latin typeface="Times New Roman" pitchFamily="18" charset="0"/>
                <a:cs typeface="Times New Roman" pitchFamily="18" charset="0"/>
              </a:rPr>
              <a:t> SR = DN × 0.0000275 - 0.2</a:t>
            </a:r>
            <a:br>
              <a:rPr sz="2550" dirty="0">
                <a:solidFill>
                  <a:srgbClr val="002060"/>
                </a:solidFill>
                <a:latin typeface="Times New Roman" pitchFamily="18" charset="0"/>
                <a:cs typeface="Times New Roman" pitchFamily="18" charset="0"/>
              </a:rPr>
            </a:br>
            <a:r>
              <a:rPr sz="2550" dirty="0">
                <a:solidFill>
                  <a:srgbClr val="002060"/>
                </a:solidFill>
                <a:latin typeface="Times New Roman" pitchFamily="18" charset="0"/>
                <a:cs typeface="Times New Roman" pitchFamily="18" charset="0"/>
              </a:rPr>
              <a:t>• </a:t>
            </a:r>
            <a:r>
              <a:rPr sz="2550" b="1" dirty="0">
                <a:solidFill>
                  <a:srgbClr val="002060"/>
                </a:solidFill>
                <a:latin typeface="Times New Roman" pitchFamily="18" charset="0"/>
                <a:cs typeface="Times New Roman" pitchFamily="18" charset="0"/>
              </a:rPr>
              <a:t>Land Surface Temperature (°C): </a:t>
            </a:r>
            <a:r>
              <a:rPr sz="2550" dirty="0">
                <a:solidFill>
                  <a:srgbClr val="002060"/>
                </a:solidFill>
                <a:latin typeface="Times New Roman" pitchFamily="18" charset="0"/>
                <a:cs typeface="Times New Roman" pitchFamily="18" charset="0"/>
              </a:rPr>
              <a:t>LST = (DN × 0.00341802 + 149.0) - 273.15</a:t>
            </a:r>
          </a:p>
          <a:p>
            <a:pPr algn="ctr"/>
            <a:r>
              <a:rPr sz="2550" dirty="0">
                <a:solidFill>
                  <a:srgbClr val="002060"/>
                </a:solidFill>
                <a:latin typeface="Times New Roman" pitchFamily="18" charset="0"/>
                <a:cs typeface="Times New Roman" pitchFamily="18" charset="0"/>
              </a:rPr>
              <a:t/>
            </a:r>
            <a:br>
              <a:rPr sz="2550" dirty="0">
                <a:solidFill>
                  <a:srgbClr val="002060"/>
                </a:solidFill>
                <a:latin typeface="Times New Roman" pitchFamily="18" charset="0"/>
                <a:cs typeface="Times New Roman" pitchFamily="18" charset="0"/>
              </a:rPr>
            </a:br>
            <a:r>
              <a:rPr lang="en-US" sz="2550" b="1" dirty="0" smtClean="0">
                <a:solidFill>
                  <a:schemeClr val="accent6">
                    <a:lumMod val="50000"/>
                  </a:schemeClr>
                </a:solidFill>
                <a:latin typeface="Times New Roman" pitchFamily="18" charset="0"/>
                <a:cs typeface="Times New Roman" pitchFamily="18" charset="0"/>
              </a:rPr>
              <a:t>SPECTRAL FORMULATIONS</a:t>
            </a:r>
            <a:endParaRPr sz="2550" b="1" dirty="0">
              <a:solidFill>
                <a:schemeClr val="accent6">
                  <a:lumMod val="50000"/>
                </a:schemeClr>
              </a:solidFill>
              <a:latin typeface="Times New Roman" pitchFamily="18" charset="0"/>
              <a:cs typeface="Times New Roman" pitchFamily="18" charset="0"/>
            </a:endParaRPr>
          </a:p>
          <a:p>
            <a:pPr>
              <a:defRPr sz="1300"/>
            </a:pPr>
            <a:r>
              <a:rPr sz="2550" dirty="0">
                <a:solidFill>
                  <a:srgbClr val="002060"/>
                </a:solidFill>
                <a:latin typeface="Times New Roman" pitchFamily="18" charset="0"/>
                <a:cs typeface="Times New Roman" pitchFamily="18" charset="0"/>
              </a:rPr>
              <a:t>• </a:t>
            </a:r>
            <a:r>
              <a:rPr sz="2550" b="1" dirty="0">
                <a:solidFill>
                  <a:srgbClr val="002060"/>
                </a:solidFill>
                <a:latin typeface="Times New Roman" pitchFamily="18" charset="0"/>
                <a:cs typeface="Times New Roman" pitchFamily="18" charset="0"/>
              </a:rPr>
              <a:t>Vegetation Index (NDVI): </a:t>
            </a:r>
            <a:r>
              <a:rPr sz="2550" dirty="0">
                <a:solidFill>
                  <a:srgbClr val="002060"/>
                </a:solidFill>
                <a:latin typeface="Times New Roman" pitchFamily="18" charset="0"/>
                <a:cs typeface="Times New Roman" pitchFamily="18" charset="0"/>
              </a:rPr>
              <a:t>(NIR - Red) / (NIR + Red)  --&gt; Landsat B5 &amp; B4</a:t>
            </a:r>
            <a:br>
              <a:rPr sz="2550" dirty="0">
                <a:solidFill>
                  <a:srgbClr val="002060"/>
                </a:solidFill>
                <a:latin typeface="Times New Roman" pitchFamily="18" charset="0"/>
                <a:cs typeface="Times New Roman" pitchFamily="18" charset="0"/>
              </a:rPr>
            </a:br>
            <a:r>
              <a:rPr sz="2550" dirty="0">
                <a:solidFill>
                  <a:srgbClr val="002060"/>
                </a:solidFill>
                <a:latin typeface="Times New Roman" pitchFamily="18" charset="0"/>
                <a:cs typeface="Times New Roman" pitchFamily="18" charset="0"/>
              </a:rPr>
              <a:t>• </a:t>
            </a:r>
            <a:r>
              <a:rPr sz="2550" b="1" dirty="0">
                <a:solidFill>
                  <a:srgbClr val="002060"/>
                </a:solidFill>
                <a:latin typeface="Times New Roman" pitchFamily="18" charset="0"/>
                <a:cs typeface="Times New Roman" pitchFamily="18" charset="0"/>
              </a:rPr>
              <a:t>Built-up Index (NDBI): </a:t>
            </a:r>
            <a:r>
              <a:rPr sz="2550" dirty="0">
                <a:solidFill>
                  <a:srgbClr val="002060"/>
                </a:solidFill>
                <a:latin typeface="Times New Roman" pitchFamily="18" charset="0"/>
                <a:cs typeface="Times New Roman" pitchFamily="18" charset="0"/>
              </a:rPr>
              <a:t>(SWIR1 - NIR) / (SWIR1 + NIR)  --&gt; Landsat B6 &amp; B5</a:t>
            </a:r>
            <a:br>
              <a:rPr sz="2550" dirty="0">
                <a:solidFill>
                  <a:srgbClr val="002060"/>
                </a:solidFill>
                <a:latin typeface="Times New Roman" pitchFamily="18" charset="0"/>
                <a:cs typeface="Times New Roman" pitchFamily="18" charset="0"/>
              </a:rPr>
            </a:br>
            <a:r>
              <a:rPr sz="2550" dirty="0">
                <a:solidFill>
                  <a:srgbClr val="002060"/>
                </a:solidFill>
                <a:latin typeface="Times New Roman" pitchFamily="18" charset="0"/>
                <a:cs typeface="Times New Roman" pitchFamily="18" charset="0"/>
              </a:rPr>
              <a:t>• </a:t>
            </a:r>
            <a:r>
              <a:rPr sz="2550" b="1" dirty="0">
                <a:solidFill>
                  <a:srgbClr val="002060"/>
                </a:solidFill>
                <a:latin typeface="Times New Roman" pitchFamily="18" charset="0"/>
                <a:cs typeface="Times New Roman" pitchFamily="18" charset="0"/>
              </a:rPr>
              <a:t>Water Index (MNDWI): </a:t>
            </a:r>
            <a:r>
              <a:rPr sz="2550" dirty="0">
                <a:solidFill>
                  <a:srgbClr val="002060"/>
                </a:solidFill>
                <a:latin typeface="Times New Roman" pitchFamily="18" charset="0"/>
                <a:cs typeface="Times New Roman" pitchFamily="18" charset="0"/>
              </a:rPr>
              <a:t>(Green - SWIR1) / (Green + SWIR1)  --&gt; Landsat B3 &amp; B6</a:t>
            </a:r>
            <a:br>
              <a:rPr sz="2550" dirty="0">
                <a:solidFill>
                  <a:srgbClr val="002060"/>
                </a:solidFill>
                <a:latin typeface="Times New Roman" pitchFamily="18" charset="0"/>
                <a:cs typeface="Times New Roman" pitchFamily="18" charset="0"/>
              </a:rPr>
            </a:br>
            <a:r>
              <a:rPr sz="2550" dirty="0">
                <a:solidFill>
                  <a:srgbClr val="002060"/>
                </a:solidFill>
                <a:latin typeface="Times New Roman" pitchFamily="18" charset="0"/>
                <a:cs typeface="Times New Roman" pitchFamily="18" charset="0"/>
              </a:rPr>
              <a:t>• </a:t>
            </a:r>
            <a:r>
              <a:rPr sz="2550" b="1" dirty="0">
                <a:solidFill>
                  <a:srgbClr val="002060"/>
                </a:solidFill>
                <a:latin typeface="Times New Roman" pitchFamily="18" charset="0"/>
                <a:cs typeface="Times New Roman" pitchFamily="18" charset="0"/>
              </a:rPr>
              <a:t>Thermal Variance (UTFVI): </a:t>
            </a:r>
            <a:r>
              <a:rPr sz="2550" dirty="0">
                <a:solidFill>
                  <a:srgbClr val="002060"/>
                </a:solidFill>
                <a:latin typeface="Times New Roman" pitchFamily="18" charset="0"/>
                <a:cs typeface="Times New Roman" pitchFamily="18" charset="0"/>
              </a:rPr>
              <a:t>(LST - </a:t>
            </a:r>
            <a:r>
              <a:rPr sz="2550" dirty="0" err="1">
                <a:solidFill>
                  <a:srgbClr val="002060"/>
                </a:solidFill>
                <a:latin typeface="Times New Roman" pitchFamily="18" charset="0"/>
                <a:cs typeface="Times New Roman" pitchFamily="18" charset="0"/>
              </a:rPr>
              <a:t>Mean_LST</a:t>
            </a:r>
            <a:r>
              <a:rPr sz="2550" dirty="0">
                <a:solidFill>
                  <a:srgbClr val="002060"/>
                </a:solidFill>
                <a:latin typeface="Times New Roman" pitchFamily="18" charset="0"/>
                <a:cs typeface="Times New Roman" pitchFamily="18" charset="0"/>
              </a:rPr>
              <a:t>) / LST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D95F02"/>
          </a:solidFill>
          <a:ln>
            <a:solidFill>
              <a:srgbClr val="D95F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830997"/>
          </a:xfrm>
          <a:prstGeom prst="rect">
            <a:avLst/>
          </a:prstGeom>
          <a:noFill/>
        </p:spPr>
        <p:txBody>
          <a:bodyPr wrap="square">
            <a:spAutoFit/>
          </a:bodyPr>
          <a:lstStyle/>
          <a:p>
            <a:pPr algn="ctr">
              <a:defRPr sz="2400" b="1">
                <a:solidFill>
                  <a:srgbClr val="1B365D"/>
                </a:solidFill>
              </a:defRPr>
            </a:pPr>
            <a:r>
              <a:rPr sz="2800" dirty="0">
                <a:latin typeface="Times New Roman" pitchFamily="18" charset="0"/>
                <a:cs typeface="Times New Roman" pitchFamily="18" charset="0"/>
              </a:rPr>
              <a:t>Decadal Spatial Thermal Signatures (2016, 2019, 2022, 2025)</a:t>
            </a:r>
          </a:p>
          <a:p>
            <a:pPr algn="ctr">
              <a:defRPr sz="1000" b="1">
                <a:solidFill>
                  <a:srgbClr val="D95F02"/>
                </a:solidFill>
              </a:defRPr>
            </a:pPr>
            <a:r>
              <a:rPr sz="2000" dirty="0">
                <a:latin typeface="Times New Roman" pitchFamily="18" charset="0"/>
                <a:cs typeface="Times New Roman" pitchFamily="18" charset="0"/>
              </a:rPr>
              <a:t>SPATIAL MAPS</a:t>
            </a:r>
          </a:p>
        </p:txBody>
      </p:sp>
      <p:pic>
        <p:nvPicPr>
          <p:cNvPr id="4" name="Picture 3" descr="fig3_spatial_lst_comparison.png"/>
          <p:cNvPicPr>
            <a:picLocks noChangeAspect="1"/>
          </p:cNvPicPr>
          <p:nvPr/>
        </p:nvPicPr>
        <p:blipFill>
          <a:blip r:embed="rId2"/>
          <a:stretch>
            <a:fillRect/>
          </a:stretch>
        </p:blipFill>
        <p:spPr>
          <a:xfrm>
            <a:off x="203485" y="1150620"/>
            <a:ext cx="6349273" cy="5486400"/>
          </a:xfrm>
          <a:prstGeom prst="rect">
            <a:avLst/>
          </a:prstGeom>
        </p:spPr>
      </p:pic>
      <p:sp>
        <p:nvSpPr>
          <p:cNvPr id="5" name="TextBox 4"/>
          <p:cNvSpPr txBox="1"/>
          <p:nvPr/>
        </p:nvSpPr>
        <p:spPr>
          <a:xfrm>
            <a:off x="7498079" y="1188720"/>
            <a:ext cx="4114800" cy="4832092"/>
          </a:xfrm>
          <a:prstGeom prst="rect">
            <a:avLst/>
          </a:prstGeom>
          <a:noFill/>
        </p:spPr>
        <p:txBody>
          <a:bodyPr wrap="square">
            <a:spAutoFit/>
          </a:bodyPr>
          <a:lstStyle/>
          <a:p>
            <a:pPr>
              <a:defRPr sz="1500" b="1">
                <a:solidFill>
                  <a:srgbClr val="1B365D"/>
                </a:solidFill>
              </a:defRPr>
            </a:pPr>
            <a:r>
              <a:rPr sz="2200" dirty="0">
                <a:solidFill>
                  <a:schemeClr val="accent6">
                    <a:lumMod val="50000"/>
                  </a:schemeClr>
                </a:solidFill>
                <a:latin typeface="Times New Roman" pitchFamily="18" charset="0"/>
                <a:cs typeface="Times New Roman" pitchFamily="18" charset="0"/>
              </a:rPr>
              <a:t>All 4 Epochs Included:</a:t>
            </a:r>
          </a:p>
          <a:p>
            <a:pPr>
              <a:defRPr sz="1200"/>
            </a:pPr>
            <a:r>
              <a:rPr sz="2200" dirty="0">
                <a:solidFill>
                  <a:srgbClr val="0070C0"/>
                </a:solidFill>
                <a:latin typeface="Times New Roman" pitchFamily="18" charset="0"/>
                <a:cs typeface="Times New Roman" pitchFamily="18" charset="0"/>
              </a:rPr>
              <a:t>• 2x2 Composite Grid showing 2016, 2019, 2022, and 2025 side-by-side.</a:t>
            </a:r>
            <a:br>
              <a:rPr sz="2200" dirty="0">
                <a:solidFill>
                  <a:srgbClr val="0070C0"/>
                </a:solidFill>
                <a:latin typeface="Times New Roman" pitchFamily="18" charset="0"/>
                <a:cs typeface="Times New Roman" pitchFamily="18" charset="0"/>
              </a:rPr>
            </a:br>
            <a:r>
              <a:rPr sz="2200" dirty="0">
                <a:solidFill>
                  <a:srgbClr val="0070C0"/>
                </a:solidFill>
                <a:latin typeface="Times New Roman" pitchFamily="18" charset="0"/>
                <a:cs typeface="Times New Roman" pitchFamily="18" charset="0"/>
              </a:rPr>
              <a:t>• Cartographic Elements: Titles, North Arrows (N ▲), Scale Bar (°C), Gray Cloud Mask Key.</a:t>
            </a:r>
          </a:p>
          <a:p>
            <a:r>
              <a:rPr sz="2200" dirty="0">
                <a:solidFill>
                  <a:srgbClr val="0070C0"/>
                </a:solidFill>
                <a:latin typeface="Times New Roman" pitchFamily="18" charset="0"/>
                <a:cs typeface="Times New Roman" pitchFamily="18" charset="0"/>
              </a:rPr>
              <a:t/>
            </a:r>
            <a:br>
              <a:rPr sz="2200" dirty="0">
                <a:solidFill>
                  <a:srgbClr val="0070C0"/>
                </a:solidFill>
                <a:latin typeface="Times New Roman" pitchFamily="18" charset="0"/>
                <a:cs typeface="Times New Roman" pitchFamily="18" charset="0"/>
              </a:rPr>
            </a:br>
            <a:r>
              <a:rPr sz="2200" b="1" dirty="0">
                <a:solidFill>
                  <a:schemeClr val="accent6">
                    <a:lumMod val="50000"/>
                  </a:schemeClr>
                </a:solidFill>
                <a:latin typeface="Times New Roman" pitchFamily="18" charset="0"/>
                <a:cs typeface="Times New Roman" pitchFamily="18" charset="0"/>
              </a:rPr>
              <a:t>Thermal Observations:</a:t>
            </a:r>
          </a:p>
          <a:p>
            <a:pPr>
              <a:defRPr sz="1200"/>
            </a:pPr>
            <a:r>
              <a:rPr sz="2200" dirty="0">
                <a:solidFill>
                  <a:srgbClr val="0070C0"/>
                </a:solidFill>
                <a:latin typeface="Times New Roman" pitchFamily="18" charset="0"/>
                <a:cs typeface="Times New Roman" pitchFamily="18" charset="0"/>
              </a:rPr>
              <a:t>• Bright yellow/white-hot zones (&gt;38°C) concentrate in urban cores.</a:t>
            </a:r>
            <a:br>
              <a:rPr sz="2200" dirty="0">
                <a:solidFill>
                  <a:srgbClr val="0070C0"/>
                </a:solidFill>
                <a:latin typeface="Times New Roman" pitchFamily="18" charset="0"/>
                <a:cs typeface="Times New Roman" pitchFamily="18" charset="0"/>
              </a:rPr>
            </a:br>
            <a:r>
              <a:rPr sz="2200" dirty="0">
                <a:solidFill>
                  <a:srgbClr val="0070C0"/>
                </a:solidFill>
                <a:latin typeface="Times New Roman" pitchFamily="18" charset="0"/>
                <a:cs typeface="Times New Roman" pitchFamily="18" charset="0"/>
              </a:rPr>
              <a:t>• Vegetated peripheries stay cool (26–30°C).</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D95F02"/>
          </a:solidFill>
          <a:ln>
            <a:solidFill>
              <a:srgbClr val="D95F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7822" y="365760"/>
            <a:ext cx="10698480" cy="830997"/>
          </a:xfrm>
          <a:prstGeom prst="rect">
            <a:avLst/>
          </a:prstGeom>
          <a:noFill/>
        </p:spPr>
        <p:txBody>
          <a:bodyPr wrap="square">
            <a:spAutoFit/>
          </a:bodyPr>
          <a:lstStyle/>
          <a:p>
            <a:pPr algn="ctr">
              <a:defRPr sz="2400" b="1">
                <a:solidFill>
                  <a:srgbClr val="1B365D"/>
                </a:solidFill>
              </a:defRPr>
            </a:pPr>
            <a:r>
              <a:rPr sz="2800" dirty="0">
                <a:latin typeface="Times New Roman" pitchFamily="18" charset="0"/>
                <a:cs typeface="Times New Roman" pitchFamily="18" charset="0"/>
              </a:rPr>
              <a:t>4-Class Land Surface Coverage (2016, 2019, 2022, 2025)</a:t>
            </a:r>
          </a:p>
          <a:p>
            <a:pPr algn="ctr">
              <a:defRPr sz="1000" b="1">
                <a:solidFill>
                  <a:srgbClr val="D95F02"/>
                </a:solidFill>
              </a:defRPr>
            </a:pPr>
            <a:r>
              <a:rPr sz="2000" dirty="0">
                <a:latin typeface="Times New Roman" pitchFamily="18" charset="0"/>
                <a:cs typeface="Times New Roman" pitchFamily="18" charset="0"/>
              </a:rPr>
              <a:t>SURFACE CLASSIFICATION</a:t>
            </a:r>
          </a:p>
        </p:txBody>
      </p:sp>
      <p:pic>
        <p:nvPicPr>
          <p:cNvPr id="4" name="Picture 3" descr="fig4_landcover_classification.png"/>
          <p:cNvPicPr>
            <a:picLocks noChangeAspect="1"/>
          </p:cNvPicPr>
          <p:nvPr/>
        </p:nvPicPr>
        <p:blipFill>
          <a:blip r:embed="rId2"/>
          <a:stretch>
            <a:fillRect/>
          </a:stretch>
        </p:blipFill>
        <p:spPr>
          <a:xfrm>
            <a:off x="87346" y="1226349"/>
            <a:ext cx="6583680" cy="5631651"/>
          </a:xfrm>
          <a:prstGeom prst="rect">
            <a:avLst/>
          </a:prstGeom>
        </p:spPr>
      </p:pic>
      <p:sp>
        <p:nvSpPr>
          <p:cNvPr id="5" name="TextBox 4"/>
          <p:cNvSpPr txBox="1"/>
          <p:nvPr/>
        </p:nvSpPr>
        <p:spPr>
          <a:xfrm>
            <a:off x="7498079" y="1188720"/>
            <a:ext cx="4114800" cy="4893647"/>
          </a:xfrm>
          <a:prstGeom prst="rect">
            <a:avLst/>
          </a:prstGeom>
          <a:noFill/>
        </p:spPr>
        <p:txBody>
          <a:bodyPr wrap="square">
            <a:spAutoFit/>
          </a:bodyPr>
          <a:lstStyle/>
          <a:p>
            <a:pPr>
              <a:defRPr sz="1500" b="1">
                <a:solidFill>
                  <a:srgbClr val="1B365D"/>
                </a:solidFill>
              </a:defRPr>
            </a:pPr>
            <a:r>
              <a:rPr sz="2400" dirty="0">
                <a:solidFill>
                  <a:schemeClr val="accent6">
                    <a:lumMod val="50000"/>
                  </a:schemeClr>
                </a:solidFill>
                <a:latin typeface="Times New Roman" pitchFamily="18" charset="0"/>
                <a:cs typeface="Times New Roman" pitchFamily="18" charset="0"/>
              </a:rPr>
              <a:t>4 Surface Categories:</a:t>
            </a:r>
          </a:p>
          <a:p>
            <a:pPr>
              <a:defRPr sz="1200"/>
            </a:pPr>
            <a:r>
              <a:rPr sz="2400" dirty="0">
                <a:latin typeface="Times New Roman" pitchFamily="18" charset="0"/>
                <a:cs typeface="Times New Roman" pitchFamily="18" charset="0"/>
              </a:rPr>
              <a:t>• </a:t>
            </a:r>
            <a:r>
              <a:rPr sz="2400" dirty="0" smtClean="0">
                <a:solidFill>
                  <a:srgbClr val="00B050"/>
                </a:solidFill>
                <a:latin typeface="Times New Roman" pitchFamily="18" charset="0"/>
                <a:cs typeface="Times New Roman" pitchFamily="18" charset="0"/>
              </a:rPr>
              <a:t>🟩</a:t>
            </a:r>
            <a:r>
              <a:rPr sz="2400" dirty="0" smtClean="0">
                <a:latin typeface="Times New Roman" pitchFamily="18" charset="0"/>
                <a:cs typeface="Times New Roman" pitchFamily="18" charset="0"/>
              </a:rPr>
              <a:t> </a:t>
            </a:r>
            <a:r>
              <a:rPr sz="2400" dirty="0">
                <a:latin typeface="Times New Roman" pitchFamily="18" charset="0"/>
                <a:cs typeface="Times New Roman" pitchFamily="18" charset="0"/>
              </a:rPr>
              <a:t>Vegetation Canopy</a:t>
            </a:r>
            <a:br>
              <a:rPr sz="2400" dirty="0">
                <a:latin typeface="Times New Roman" pitchFamily="18" charset="0"/>
                <a:cs typeface="Times New Roman" pitchFamily="18" charset="0"/>
              </a:rPr>
            </a:br>
            <a:r>
              <a:rPr sz="2400" dirty="0">
                <a:latin typeface="Times New Roman" pitchFamily="18" charset="0"/>
                <a:cs typeface="Times New Roman" pitchFamily="18" charset="0"/>
              </a:rPr>
              <a:t>• </a:t>
            </a:r>
            <a:r>
              <a:rPr sz="2400" dirty="0">
                <a:solidFill>
                  <a:schemeClr val="accent6"/>
                </a:solidFill>
                <a:latin typeface="Times New Roman" pitchFamily="18" charset="0"/>
                <a:cs typeface="Times New Roman" pitchFamily="18" charset="0"/>
              </a:rPr>
              <a:t>🟧</a:t>
            </a:r>
            <a:r>
              <a:rPr sz="2400" dirty="0">
                <a:latin typeface="Times New Roman" pitchFamily="18" charset="0"/>
                <a:cs typeface="Times New Roman" pitchFamily="18" charset="0"/>
              </a:rPr>
              <a:t> Built-Up Infrastructure</a:t>
            </a:r>
            <a:br>
              <a:rPr sz="2400" dirty="0">
                <a:latin typeface="Times New Roman" pitchFamily="18" charset="0"/>
                <a:cs typeface="Times New Roman" pitchFamily="18" charset="0"/>
              </a:rPr>
            </a:br>
            <a:r>
              <a:rPr sz="2400" dirty="0">
                <a:latin typeface="Times New Roman" pitchFamily="18" charset="0"/>
                <a:cs typeface="Times New Roman" pitchFamily="18" charset="0"/>
              </a:rPr>
              <a:t>• </a:t>
            </a:r>
            <a:r>
              <a:rPr sz="2400" dirty="0">
                <a:solidFill>
                  <a:srgbClr val="953735"/>
                </a:solidFill>
                <a:latin typeface="Times New Roman" pitchFamily="18" charset="0"/>
                <a:cs typeface="Times New Roman" pitchFamily="18" charset="0"/>
              </a:rPr>
              <a:t>🟫</a:t>
            </a:r>
            <a:r>
              <a:rPr sz="2400" dirty="0">
                <a:latin typeface="Times New Roman" pitchFamily="18" charset="0"/>
                <a:cs typeface="Times New Roman" pitchFamily="18" charset="0"/>
              </a:rPr>
              <a:t> Bare Soil / Cleared Land</a:t>
            </a:r>
            <a:br>
              <a:rPr sz="2400" dirty="0">
                <a:latin typeface="Times New Roman" pitchFamily="18" charset="0"/>
                <a:cs typeface="Times New Roman" pitchFamily="18" charset="0"/>
              </a:rPr>
            </a:br>
            <a:r>
              <a:rPr sz="2400" dirty="0">
                <a:latin typeface="Times New Roman" pitchFamily="18" charset="0"/>
                <a:cs typeface="Times New Roman" pitchFamily="18" charset="0"/>
              </a:rPr>
              <a:t>• </a:t>
            </a:r>
            <a:r>
              <a:rPr sz="2400" dirty="0">
                <a:solidFill>
                  <a:schemeClr val="tx2">
                    <a:lumMod val="60000"/>
                    <a:lumOff val="40000"/>
                  </a:schemeClr>
                </a:solidFill>
                <a:latin typeface="Times New Roman" pitchFamily="18" charset="0"/>
                <a:cs typeface="Times New Roman" pitchFamily="18" charset="0"/>
              </a:rPr>
              <a:t>🟦</a:t>
            </a:r>
            <a:r>
              <a:rPr sz="2400" dirty="0">
                <a:latin typeface="Times New Roman" pitchFamily="18" charset="0"/>
                <a:cs typeface="Times New Roman" pitchFamily="18" charset="0"/>
              </a:rPr>
              <a:t> Water Bodies / Wetland</a:t>
            </a:r>
          </a:p>
          <a:p>
            <a:r>
              <a:rPr sz="2400" dirty="0">
                <a:latin typeface="Times New Roman" pitchFamily="18" charset="0"/>
                <a:cs typeface="Times New Roman" pitchFamily="18" charset="0"/>
              </a:rPr>
              <a:t/>
            </a:r>
            <a:br>
              <a:rPr sz="2400" dirty="0">
                <a:latin typeface="Times New Roman" pitchFamily="18" charset="0"/>
                <a:cs typeface="Times New Roman" pitchFamily="18" charset="0"/>
              </a:rPr>
            </a:br>
            <a:r>
              <a:rPr sz="2400" b="1" dirty="0">
                <a:solidFill>
                  <a:schemeClr val="accent6">
                    <a:lumMod val="50000"/>
                  </a:schemeClr>
                </a:solidFill>
                <a:latin typeface="Times New Roman" pitchFamily="18" charset="0"/>
                <a:cs typeface="Times New Roman" pitchFamily="18" charset="0"/>
              </a:rPr>
              <a:t>Thermal Contrast:</a:t>
            </a:r>
          </a:p>
          <a:p>
            <a:pPr>
              <a:defRPr sz="1200"/>
            </a:pPr>
            <a:r>
              <a:rPr sz="2400" dirty="0">
                <a:latin typeface="Times New Roman" pitchFamily="18" charset="0"/>
                <a:cs typeface="Times New Roman" pitchFamily="18" charset="0"/>
              </a:rPr>
              <a:t>• Built-up &amp; Bare Soil record higher mean LST than Vegetation.</a:t>
            </a:r>
            <a:br>
              <a:rPr sz="2400" dirty="0">
                <a:latin typeface="Times New Roman" pitchFamily="18" charset="0"/>
                <a:cs typeface="Times New Roman" pitchFamily="18" charset="0"/>
              </a:rPr>
            </a:br>
            <a:r>
              <a:rPr sz="2400" dirty="0">
                <a:latin typeface="Times New Roman" pitchFamily="18" charset="0"/>
                <a:cs typeface="Times New Roman" pitchFamily="18" charset="0"/>
              </a:rPr>
              <a:t>• Open water is modest due to sub-pixel mixing of narrow streams at 30 m resolution</a:t>
            </a:r>
            <a:r>
              <a:rPr dirty="0"/>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D95F02"/>
          </a:solidFill>
          <a:ln>
            <a:solidFill>
              <a:srgbClr val="D95F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830997"/>
          </a:xfrm>
          <a:prstGeom prst="rect">
            <a:avLst/>
          </a:prstGeom>
          <a:noFill/>
        </p:spPr>
        <p:txBody>
          <a:bodyPr wrap="square">
            <a:spAutoFit/>
          </a:bodyPr>
          <a:lstStyle/>
          <a:p>
            <a:pPr algn="ctr">
              <a:defRPr sz="2400" b="1">
                <a:solidFill>
                  <a:srgbClr val="1B365D"/>
                </a:solidFill>
              </a:defRPr>
            </a:pPr>
            <a:r>
              <a:rPr sz="2800" dirty="0">
                <a:latin typeface="Times New Roman" pitchFamily="18" charset="0"/>
                <a:cs typeface="Times New Roman" pitchFamily="18" charset="0"/>
              </a:rPr>
              <a:t>Decadal Trajectory: Built-Up Expansion </a:t>
            </a:r>
            <a:r>
              <a:rPr sz="2800" dirty="0" err="1">
                <a:latin typeface="Times New Roman" pitchFamily="18" charset="0"/>
                <a:cs typeface="Times New Roman" pitchFamily="18" charset="0"/>
              </a:rPr>
              <a:t>vs</a:t>
            </a:r>
            <a:r>
              <a:rPr sz="2800" dirty="0">
                <a:latin typeface="Times New Roman" pitchFamily="18" charset="0"/>
                <a:cs typeface="Times New Roman" pitchFamily="18" charset="0"/>
              </a:rPr>
              <a:t> Canopy Loss</a:t>
            </a:r>
          </a:p>
          <a:p>
            <a:pPr algn="ctr">
              <a:defRPr sz="1000" b="1">
                <a:solidFill>
                  <a:srgbClr val="D95F02"/>
                </a:solidFill>
              </a:defRPr>
            </a:pPr>
            <a:r>
              <a:rPr sz="2000" dirty="0">
                <a:latin typeface="Times New Roman" pitchFamily="18" charset="0"/>
                <a:cs typeface="Times New Roman" pitchFamily="18" charset="0"/>
              </a:rPr>
              <a:t>RESULTS &amp; TRENDS</a:t>
            </a:r>
          </a:p>
        </p:txBody>
      </p:sp>
      <p:pic>
        <p:nvPicPr>
          <p:cNvPr id="4" name="Picture 3" descr="fig1_eda_distributions.png"/>
          <p:cNvPicPr>
            <a:picLocks noChangeAspect="1"/>
          </p:cNvPicPr>
          <p:nvPr/>
        </p:nvPicPr>
        <p:blipFill>
          <a:blip r:embed="rId2"/>
          <a:stretch>
            <a:fillRect/>
          </a:stretch>
        </p:blipFill>
        <p:spPr>
          <a:xfrm>
            <a:off x="152247" y="1569493"/>
            <a:ext cx="6412326" cy="4517407"/>
          </a:xfrm>
          <a:prstGeom prst="rect">
            <a:avLst/>
          </a:prstGeom>
        </p:spPr>
      </p:pic>
      <p:sp>
        <p:nvSpPr>
          <p:cNvPr id="5" name="TextBox 4"/>
          <p:cNvSpPr txBox="1"/>
          <p:nvPr/>
        </p:nvSpPr>
        <p:spPr>
          <a:xfrm>
            <a:off x="6858000" y="1188720"/>
            <a:ext cx="4754880" cy="4893647"/>
          </a:xfrm>
          <a:prstGeom prst="rect">
            <a:avLst/>
          </a:prstGeom>
          <a:noFill/>
        </p:spPr>
        <p:txBody>
          <a:bodyPr wrap="square">
            <a:spAutoFit/>
          </a:bodyPr>
          <a:lstStyle/>
          <a:p>
            <a:pPr>
              <a:defRPr sz="1500" b="1">
                <a:solidFill>
                  <a:srgbClr val="1B365D"/>
                </a:solidFill>
              </a:defRPr>
            </a:pPr>
            <a:r>
              <a:rPr sz="2400" dirty="0">
                <a:solidFill>
                  <a:schemeClr val="accent6">
                    <a:lumMod val="50000"/>
                  </a:schemeClr>
                </a:solidFill>
                <a:latin typeface="Times New Roman" pitchFamily="18" charset="0"/>
                <a:cs typeface="Times New Roman" pitchFamily="18" charset="0"/>
              </a:rPr>
              <a:t>Quantitative Metrics (2016 </a:t>
            </a:r>
            <a:r>
              <a:rPr sz="2400" dirty="0" err="1">
                <a:solidFill>
                  <a:schemeClr val="accent6">
                    <a:lumMod val="50000"/>
                  </a:schemeClr>
                </a:solidFill>
                <a:latin typeface="Times New Roman" pitchFamily="18" charset="0"/>
                <a:cs typeface="Times New Roman" pitchFamily="18" charset="0"/>
              </a:rPr>
              <a:t>vs</a:t>
            </a:r>
            <a:r>
              <a:rPr sz="2400" dirty="0">
                <a:solidFill>
                  <a:schemeClr val="accent6">
                    <a:lumMod val="50000"/>
                  </a:schemeClr>
                </a:solidFill>
                <a:latin typeface="Times New Roman" pitchFamily="18" charset="0"/>
                <a:cs typeface="Times New Roman" pitchFamily="18" charset="0"/>
              </a:rPr>
              <a:t> 2025):</a:t>
            </a:r>
          </a:p>
          <a:p>
            <a:pPr>
              <a:defRPr sz="1200"/>
            </a:pPr>
            <a:r>
              <a:rPr sz="2400" dirty="0">
                <a:latin typeface="Times New Roman" pitchFamily="18" charset="0"/>
                <a:cs typeface="Times New Roman" pitchFamily="18" charset="0"/>
              </a:rPr>
              <a:t>• </a:t>
            </a:r>
            <a:r>
              <a:rPr sz="2400" dirty="0">
                <a:solidFill>
                  <a:schemeClr val="tx2"/>
                </a:solidFill>
                <a:latin typeface="Times New Roman" pitchFamily="18" charset="0"/>
                <a:cs typeface="Times New Roman" pitchFamily="18" charset="0"/>
              </a:rPr>
              <a:t>Built-up Growth: Mean NDBI increased from -0.031 (2016) to -0.005 (2025) [Δ = +0.026], confirming infrastructure expansion.</a:t>
            </a:r>
            <a:br>
              <a:rPr sz="2400" dirty="0">
                <a:solidFill>
                  <a:schemeClr val="tx2"/>
                </a:solidFill>
                <a:latin typeface="Times New Roman" pitchFamily="18" charset="0"/>
                <a:cs typeface="Times New Roman" pitchFamily="18" charset="0"/>
              </a:rPr>
            </a:br>
            <a:r>
              <a:rPr sz="2400" dirty="0">
                <a:solidFill>
                  <a:schemeClr val="tx2"/>
                </a:solidFill>
                <a:latin typeface="Times New Roman" pitchFamily="18" charset="0"/>
                <a:cs typeface="Times New Roman" pitchFamily="18" charset="0"/>
              </a:rPr>
              <a:t>• Canopy Loss: Mean NDVI dropped from 0.418 (2016) to 0.382 (2025) [Δ = -0.036], reflecting forest clearing.</a:t>
            </a:r>
            <a:br>
              <a:rPr sz="2400" dirty="0">
                <a:solidFill>
                  <a:schemeClr val="tx2"/>
                </a:solidFill>
                <a:latin typeface="Times New Roman" pitchFamily="18" charset="0"/>
                <a:cs typeface="Times New Roman" pitchFamily="18" charset="0"/>
              </a:rPr>
            </a:br>
            <a:r>
              <a:rPr sz="2400" dirty="0">
                <a:solidFill>
                  <a:schemeClr val="tx2"/>
                </a:solidFill>
                <a:latin typeface="Times New Roman" pitchFamily="18" charset="0"/>
                <a:cs typeface="Times New Roman" pitchFamily="18" charset="0"/>
              </a:rPr>
              <a:t>• Core Insight: Rising NDBI combined with falling NDVI demonstrates structural landscape shift driving microclimate warming.</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D95F02"/>
          </a:solidFill>
          <a:ln>
            <a:solidFill>
              <a:srgbClr val="D95F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830997"/>
          </a:xfrm>
          <a:prstGeom prst="rect">
            <a:avLst/>
          </a:prstGeom>
          <a:noFill/>
        </p:spPr>
        <p:txBody>
          <a:bodyPr wrap="square">
            <a:spAutoFit/>
          </a:bodyPr>
          <a:lstStyle/>
          <a:p>
            <a:pPr algn="ctr">
              <a:defRPr sz="2400" b="1">
                <a:solidFill>
                  <a:srgbClr val="1B365D"/>
                </a:solidFill>
              </a:defRPr>
            </a:pPr>
            <a:r>
              <a:rPr sz="2800" dirty="0">
                <a:latin typeface="Times New Roman" pitchFamily="18" charset="0"/>
                <a:cs typeface="Times New Roman" pitchFamily="18" charset="0"/>
              </a:rPr>
              <a:t>Microclimate Statistical Modeling (OLS Regression)</a:t>
            </a:r>
          </a:p>
          <a:p>
            <a:pPr algn="ctr">
              <a:defRPr sz="1000" b="1">
                <a:solidFill>
                  <a:srgbClr val="D95F02"/>
                </a:solidFill>
              </a:defRPr>
            </a:pPr>
            <a:r>
              <a:rPr sz="2000" dirty="0">
                <a:latin typeface="Times New Roman" pitchFamily="18" charset="0"/>
                <a:cs typeface="Times New Roman" pitchFamily="18" charset="0"/>
              </a:rPr>
              <a:t>STATISTICAL EVIDENCE</a:t>
            </a:r>
          </a:p>
        </p:txBody>
      </p:sp>
      <p:pic>
        <p:nvPicPr>
          <p:cNvPr id="4" name="Picture 3" descr="fig2_regression_scatter.png"/>
          <p:cNvPicPr>
            <a:picLocks noChangeAspect="1"/>
          </p:cNvPicPr>
          <p:nvPr/>
        </p:nvPicPr>
        <p:blipFill>
          <a:blip r:embed="rId2"/>
          <a:stretch>
            <a:fillRect/>
          </a:stretch>
        </p:blipFill>
        <p:spPr>
          <a:xfrm>
            <a:off x="267495" y="1719618"/>
            <a:ext cx="6324373" cy="4039737"/>
          </a:xfrm>
          <a:prstGeom prst="rect">
            <a:avLst/>
          </a:prstGeom>
        </p:spPr>
      </p:pic>
      <p:sp>
        <p:nvSpPr>
          <p:cNvPr id="5" name="TextBox 4"/>
          <p:cNvSpPr txBox="1"/>
          <p:nvPr/>
        </p:nvSpPr>
        <p:spPr>
          <a:xfrm>
            <a:off x="6858000" y="1188720"/>
            <a:ext cx="4754880" cy="4893647"/>
          </a:xfrm>
          <a:prstGeom prst="rect">
            <a:avLst/>
          </a:prstGeom>
          <a:noFill/>
        </p:spPr>
        <p:txBody>
          <a:bodyPr wrap="square">
            <a:spAutoFit/>
          </a:bodyPr>
          <a:lstStyle/>
          <a:p>
            <a:pPr>
              <a:defRPr sz="1500" b="1">
                <a:solidFill>
                  <a:srgbClr val="1B365D"/>
                </a:solidFill>
              </a:defRPr>
            </a:pPr>
            <a:r>
              <a:rPr sz="2400" dirty="0">
                <a:solidFill>
                  <a:schemeClr val="accent6">
                    <a:lumMod val="50000"/>
                  </a:schemeClr>
                </a:solidFill>
                <a:latin typeface="Times New Roman" pitchFamily="18" charset="0"/>
                <a:cs typeface="Times New Roman" pitchFamily="18" charset="0"/>
              </a:rPr>
              <a:t>Mathematical Proof of Behavior:</a:t>
            </a:r>
          </a:p>
          <a:p>
            <a:pPr>
              <a:defRPr sz="1200"/>
            </a:pPr>
            <a:r>
              <a:rPr sz="2400" dirty="0">
                <a:latin typeface="Times New Roman" pitchFamily="18" charset="0"/>
                <a:cs typeface="Times New Roman" pitchFamily="18" charset="0"/>
              </a:rPr>
              <a:t>• </a:t>
            </a:r>
            <a:r>
              <a:rPr sz="2400" dirty="0">
                <a:solidFill>
                  <a:srgbClr val="00B050"/>
                </a:solidFill>
                <a:latin typeface="Times New Roman" pitchFamily="18" charset="0"/>
                <a:cs typeface="Times New Roman" pitchFamily="18" charset="0"/>
              </a:rPr>
              <a:t>🟩</a:t>
            </a:r>
            <a:r>
              <a:rPr sz="2400" dirty="0">
                <a:latin typeface="Times New Roman" pitchFamily="18" charset="0"/>
                <a:cs typeface="Times New Roman" pitchFamily="18" charset="0"/>
              </a:rPr>
              <a:t> </a:t>
            </a:r>
            <a:r>
              <a:rPr sz="2400" dirty="0">
                <a:solidFill>
                  <a:schemeClr val="accent1"/>
                </a:solidFill>
                <a:latin typeface="Times New Roman" pitchFamily="18" charset="0"/>
                <a:cs typeface="Times New Roman" pitchFamily="18" charset="0"/>
              </a:rPr>
              <a:t>LST </a:t>
            </a:r>
            <a:r>
              <a:rPr sz="2400" dirty="0" err="1">
                <a:solidFill>
                  <a:schemeClr val="accent1"/>
                </a:solidFill>
                <a:latin typeface="Times New Roman" pitchFamily="18" charset="0"/>
                <a:cs typeface="Times New Roman" pitchFamily="18" charset="0"/>
              </a:rPr>
              <a:t>vs</a:t>
            </a:r>
            <a:r>
              <a:rPr sz="2400" dirty="0">
                <a:solidFill>
                  <a:schemeClr val="accent1"/>
                </a:solidFill>
                <a:latin typeface="Times New Roman" pitchFamily="18" charset="0"/>
                <a:cs typeface="Times New Roman" pitchFamily="18" charset="0"/>
              </a:rPr>
              <a:t> NDVI (Vegetation): Negative slope. Proves mathematically that as vegetation density increases, surface temperature decreases (Surface Cooling).</a:t>
            </a:r>
            <a:br>
              <a:rPr sz="2400" dirty="0">
                <a:solidFill>
                  <a:schemeClr val="accent1"/>
                </a:solidFill>
                <a:latin typeface="Times New Roman" pitchFamily="18" charset="0"/>
                <a:cs typeface="Times New Roman" pitchFamily="18" charset="0"/>
              </a:rPr>
            </a:br>
            <a:r>
              <a:rPr sz="2400" dirty="0">
                <a:latin typeface="Times New Roman" pitchFamily="18" charset="0"/>
                <a:cs typeface="Times New Roman" pitchFamily="18" charset="0"/>
              </a:rPr>
              <a:t>• </a:t>
            </a:r>
            <a:r>
              <a:rPr sz="2400" dirty="0">
                <a:solidFill>
                  <a:srgbClr val="FFC000"/>
                </a:solidFill>
                <a:latin typeface="Times New Roman" pitchFamily="18" charset="0"/>
                <a:cs typeface="Times New Roman" pitchFamily="18" charset="0"/>
              </a:rPr>
              <a:t>🟧</a:t>
            </a:r>
            <a:r>
              <a:rPr sz="2400" dirty="0">
                <a:latin typeface="Times New Roman" pitchFamily="18" charset="0"/>
                <a:cs typeface="Times New Roman" pitchFamily="18" charset="0"/>
              </a:rPr>
              <a:t> </a:t>
            </a:r>
            <a:r>
              <a:rPr sz="2400" dirty="0">
                <a:solidFill>
                  <a:schemeClr val="accent1"/>
                </a:solidFill>
                <a:latin typeface="Times New Roman" pitchFamily="18" charset="0"/>
                <a:cs typeface="Times New Roman" pitchFamily="18" charset="0"/>
              </a:rPr>
              <a:t>LST </a:t>
            </a:r>
            <a:r>
              <a:rPr sz="2400" dirty="0" err="1">
                <a:solidFill>
                  <a:schemeClr val="accent1"/>
                </a:solidFill>
                <a:latin typeface="Times New Roman" pitchFamily="18" charset="0"/>
                <a:cs typeface="Times New Roman" pitchFamily="18" charset="0"/>
              </a:rPr>
              <a:t>vs</a:t>
            </a:r>
            <a:r>
              <a:rPr sz="2400" dirty="0">
                <a:solidFill>
                  <a:schemeClr val="accent1"/>
                </a:solidFill>
                <a:latin typeface="Times New Roman" pitchFamily="18" charset="0"/>
                <a:cs typeface="Times New Roman" pitchFamily="18" charset="0"/>
              </a:rPr>
              <a:t> NDBI (Built-Up): Positive slope. Proves mathematically that as built-up density increases, surface temperature increases (Surface Heating).</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D95F02"/>
          </a:solidFill>
          <a:ln>
            <a:solidFill>
              <a:srgbClr val="D95F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954107"/>
          </a:xfrm>
          <a:prstGeom prst="rect">
            <a:avLst/>
          </a:prstGeom>
          <a:noFill/>
        </p:spPr>
        <p:txBody>
          <a:bodyPr wrap="square">
            <a:spAutoFit/>
          </a:bodyPr>
          <a:lstStyle/>
          <a:p>
            <a:pPr algn="ctr">
              <a:defRPr sz="2400" b="1">
                <a:solidFill>
                  <a:srgbClr val="1B365D"/>
                </a:solidFill>
              </a:defRPr>
            </a:pPr>
            <a:r>
              <a:rPr sz="3200" dirty="0">
                <a:latin typeface="Times New Roman" pitchFamily="18" charset="0"/>
                <a:cs typeface="Times New Roman" pitchFamily="18" charset="0"/>
              </a:rPr>
              <a:t>Software Architecture &amp; 24/7 Cloud Deployment</a:t>
            </a:r>
          </a:p>
          <a:p>
            <a:pPr algn="ctr">
              <a:defRPr sz="1000" b="1">
                <a:solidFill>
                  <a:srgbClr val="D95F02"/>
                </a:solidFill>
              </a:defRPr>
            </a:pPr>
            <a:r>
              <a:rPr sz="2400" dirty="0">
                <a:latin typeface="Times New Roman" pitchFamily="18" charset="0"/>
                <a:cs typeface="Times New Roman" pitchFamily="18" charset="0"/>
              </a:rPr>
              <a:t>SYSTEM ARCHITECTURE</a:t>
            </a:r>
          </a:p>
        </p:txBody>
      </p:sp>
      <p:sp>
        <p:nvSpPr>
          <p:cNvPr id="4" name="TextBox 3"/>
          <p:cNvSpPr txBox="1"/>
          <p:nvPr/>
        </p:nvSpPr>
        <p:spPr>
          <a:xfrm>
            <a:off x="936236" y="1606470"/>
            <a:ext cx="10698480" cy="3539430"/>
          </a:xfrm>
          <a:prstGeom prst="rect">
            <a:avLst/>
          </a:prstGeom>
          <a:noFill/>
        </p:spPr>
        <p:txBody>
          <a:bodyPr wrap="square">
            <a:spAutoFit/>
          </a:bodyPr>
          <a:lstStyle/>
          <a:p>
            <a:pPr algn="ctr">
              <a:defRPr sz="1600" b="1">
                <a:solidFill>
                  <a:srgbClr val="1B365D"/>
                </a:solidFill>
              </a:defRPr>
            </a:pPr>
            <a:r>
              <a:rPr sz="2800" dirty="0" smtClean="0">
                <a:solidFill>
                  <a:schemeClr val="accent6">
                    <a:lumMod val="50000"/>
                  </a:schemeClr>
                </a:solidFill>
                <a:latin typeface="Times New Roman" pitchFamily="18" charset="0"/>
                <a:cs typeface="Times New Roman" pitchFamily="18" charset="0"/>
              </a:rPr>
              <a:t>End-to-End </a:t>
            </a:r>
            <a:r>
              <a:rPr sz="2800" dirty="0">
                <a:solidFill>
                  <a:schemeClr val="accent6">
                    <a:lumMod val="50000"/>
                  </a:schemeClr>
                </a:solidFill>
                <a:latin typeface="Times New Roman" pitchFamily="18" charset="0"/>
                <a:cs typeface="Times New Roman" pitchFamily="18" charset="0"/>
              </a:rPr>
              <a:t>System Framework</a:t>
            </a:r>
            <a:r>
              <a:rPr sz="2800" dirty="0" smtClean="0">
                <a:solidFill>
                  <a:schemeClr val="accent6">
                    <a:lumMod val="50000"/>
                  </a:schemeClr>
                </a:solidFill>
                <a:latin typeface="Times New Roman" pitchFamily="18" charset="0"/>
                <a:cs typeface="Times New Roman" pitchFamily="18" charset="0"/>
              </a:rPr>
              <a:t>:</a:t>
            </a:r>
            <a:endParaRPr sz="2800" dirty="0">
              <a:solidFill>
                <a:schemeClr val="accent6">
                  <a:lumMod val="50000"/>
                </a:schemeClr>
              </a:solidFill>
              <a:latin typeface="Times New Roman" pitchFamily="18" charset="0"/>
              <a:cs typeface="Times New Roman" pitchFamily="18" charset="0"/>
            </a:endParaRPr>
          </a:p>
          <a:p>
            <a:pPr>
              <a:defRPr sz="1300"/>
            </a:pPr>
            <a:r>
              <a:rPr sz="2800" b="1" dirty="0">
                <a:solidFill>
                  <a:srgbClr val="0070C0"/>
                </a:solidFill>
                <a:latin typeface="Times New Roman" pitchFamily="18" charset="0"/>
                <a:cs typeface="Times New Roman" pitchFamily="18" charset="0"/>
              </a:rPr>
              <a:t>1. Google </a:t>
            </a:r>
            <a:r>
              <a:rPr sz="2800" b="1" dirty="0" err="1">
                <a:solidFill>
                  <a:srgbClr val="0070C0"/>
                </a:solidFill>
                <a:latin typeface="Times New Roman" pitchFamily="18" charset="0"/>
                <a:cs typeface="Times New Roman" pitchFamily="18" charset="0"/>
              </a:rPr>
              <a:t>Colab</a:t>
            </a:r>
            <a:r>
              <a:rPr sz="2800" b="1" dirty="0">
                <a:solidFill>
                  <a:srgbClr val="0070C0"/>
                </a:solidFill>
                <a:latin typeface="Times New Roman" pitchFamily="18" charset="0"/>
                <a:cs typeface="Times New Roman" pitchFamily="18" charset="0"/>
              </a:rPr>
              <a:t>:</a:t>
            </a:r>
            <a:r>
              <a:rPr sz="2800" dirty="0">
                <a:latin typeface="Times New Roman" pitchFamily="18" charset="0"/>
                <a:cs typeface="Times New Roman" pitchFamily="18" charset="0"/>
              </a:rPr>
              <a:t> </a:t>
            </a:r>
            <a:r>
              <a:rPr sz="2800" dirty="0">
                <a:solidFill>
                  <a:srgbClr val="002060"/>
                </a:solidFill>
                <a:latin typeface="Times New Roman" pitchFamily="18" charset="0"/>
                <a:cs typeface="Times New Roman" pitchFamily="18" charset="0"/>
              </a:rPr>
              <a:t>High-speed cloud raster extraction via Planetary Computer STAC API.</a:t>
            </a:r>
            <a:br>
              <a:rPr sz="2800" dirty="0">
                <a:solidFill>
                  <a:srgbClr val="002060"/>
                </a:solidFill>
                <a:latin typeface="Times New Roman" pitchFamily="18" charset="0"/>
                <a:cs typeface="Times New Roman" pitchFamily="18" charset="0"/>
              </a:rPr>
            </a:br>
            <a:r>
              <a:rPr sz="2800" b="1" dirty="0">
                <a:solidFill>
                  <a:srgbClr val="0070C0"/>
                </a:solidFill>
                <a:latin typeface="Times New Roman" pitchFamily="18" charset="0"/>
                <a:cs typeface="Times New Roman" pitchFamily="18" charset="0"/>
              </a:rPr>
              <a:t>2. Visual Studio Code (VS Code): </a:t>
            </a:r>
            <a:r>
              <a:rPr sz="2800" dirty="0">
                <a:solidFill>
                  <a:srgbClr val="002060"/>
                </a:solidFill>
                <a:latin typeface="Times New Roman" pitchFamily="18" charset="0"/>
                <a:cs typeface="Times New Roman" pitchFamily="18" charset="0"/>
              </a:rPr>
              <a:t>Local modular software development &amp; </a:t>
            </a:r>
            <a:r>
              <a:rPr sz="2800" dirty="0" err="1">
                <a:solidFill>
                  <a:srgbClr val="002060"/>
                </a:solidFill>
                <a:latin typeface="Times New Roman" pitchFamily="18" charset="0"/>
                <a:cs typeface="Times New Roman" pitchFamily="18" charset="0"/>
              </a:rPr>
              <a:t>Git</a:t>
            </a:r>
            <a:r>
              <a:rPr sz="2800" dirty="0">
                <a:solidFill>
                  <a:srgbClr val="002060"/>
                </a:solidFill>
                <a:latin typeface="Times New Roman" pitchFamily="18" charset="0"/>
                <a:cs typeface="Times New Roman" pitchFamily="18" charset="0"/>
              </a:rPr>
              <a:t> integration.</a:t>
            </a:r>
            <a:br>
              <a:rPr sz="2800" dirty="0">
                <a:solidFill>
                  <a:srgbClr val="002060"/>
                </a:solidFill>
                <a:latin typeface="Times New Roman" pitchFamily="18" charset="0"/>
                <a:cs typeface="Times New Roman" pitchFamily="18" charset="0"/>
              </a:rPr>
            </a:br>
            <a:r>
              <a:rPr sz="2800" b="1" dirty="0">
                <a:solidFill>
                  <a:srgbClr val="0070C0"/>
                </a:solidFill>
                <a:latin typeface="Times New Roman" pitchFamily="18" charset="0"/>
                <a:cs typeface="Times New Roman" pitchFamily="18" charset="0"/>
              </a:rPr>
              <a:t>3. </a:t>
            </a:r>
            <a:r>
              <a:rPr sz="2800" b="1" dirty="0" err="1">
                <a:solidFill>
                  <a:srgbClr val="0070C0"/>
                </a:solidFill>
                <a:latin typeface="Times New Roman" pitchFamily="18" charset="0"/>
                <a:cs typeface="Times New Roman" pitchFamily="18" charset="0"/>
              </a:rPr>
              <a:t>GitHub</a:t>
            </a:r>
            <a:r>
              <a:rPr sz="2800" b="1" dirty="0">
                <a:solidFill>
                  <a:srgbClr val="0070C0"/>
                </a:solidFill>
                <a:latin typeface="Times New Roman" pitchFamily="18" charset="0"/>
                <a:cs typeface="Times New Roman" pitchFamily="18" charset="0"/>
              </a:rPr>
              <a:t> Repository:</a:t>
            </a:r>
            <a:r>
              <a:rPr sz="2800" dirty="0">
                <a:latin typeface="Times New Roman" pitchFamily="18" charset="0"/>
                <a:cs typeface="Times New Roman" pitchFamily="18" charset="0"/>
              </a:rPr>
              <a:t> </a:t>
            </a:r>
            <a:r>
              <a:rPr sz="2800" dirty="0">
                <a:solidFill>
                  <a:srgbClr val="002060"/>
                </a:solidFill>
                <a:latin typeface="Times New Roman" pitchFamily="18" charset="0"/>
                <a:cs typeface="Times New Roman" pitchFamily="18" charset="0"/>
              </a:rPr>
              <a:t>Public open-source repository (</a:t>
            </a:r>
            <a:r>
              <a:rPr sz="2800" u="sng" dirty="0">
                <a:solidFill>
                  <a:srgbClr val="002060"/>
                </a:solidFill>
                <a:latin typeface="Times New Roman" pitchFamily="18" charset="0"/>
                <a:cs typeface="Times New Roman" pitchFamily="18" charset="0"/>
              </a:rPr>
              <a:t>github.com/</a:t>
            </a:r>
            <a:r>
              <a:rPr sz="2800" u="sng" dirty="0" err="1">
                <a:solidFill>
                  <a:srgbClr val="002060"/>
                </a:solidFill>
                <a:latin typeface="Times New Roman" pitchFamily="18" charset="0"/>
                <a:cs typeface="Times New Roman" pitchFamily="18" charset="0"/>
              </a:rPr>
              <a:t>blossomsplendour-cpu</a:t>
            </a:r>
            <a:r>
              <a:rPr sz="2800" u="sng" dirty="0">
                <a:solidFill>
                  <a:srgbClr val="002060"/>
                </a:solidFill>
                <a:latin typeface="Times New Roman" pitchFamily="18" charset="0"/>
                <a:cs typeface="Times New Roman" pitchFamily="18" charset="0"/>
              </a:rPr>
              <a:t>/</a:t>
            </a:r>
            <a:r>
              <a:rPr sz="2800" u="sng" dirty="0" err="1">
                <a:solidFill>
                  <a:srgbClr val="002060"/>
                </a:solidFill>
                <a:latin typeface="Times New Roman" pitchFamily="18" charset="0"/>
                <a:cs typeface="Times New Roman" pitchFamily="18" charset="0"/>
              </a:rPr>
              <a:t>uyo_uhi</a:t>
            </a:r>
            <a:r>
              <a:rPr sz="2800" dirty="0">
                <a:solidFill>
                  <a:srgbClr val="002060"/>
                </a:solidFill>
                <a:latin typeface="Times New Roman" pitchFamily="18" charset="0"/>
                <a:cs typeface="Times New Roman" pitchFamily="18" charset="0"/>
              </a:rPr>
              <a:t>).</a:t>
            </a:r>
            <a:br>
              <a:rPr sz="2800" dirty="0">
                <a:solidFill>
                  <a:srgbClr val="002060"/>
                </a:solidFill>
                <a:latin typeface="Times New Roman" pitchFamily="18" charset="0"/>
                <a:cs typeface="Times New Roman" pitchFamily="18" charset="0"/>
              </a:rPr>
            </a:br>
            <a:r>
              <a:rPr sz="2800" b="1" dirty="0">
                <a:solidFill>
                  <a:srgbClr val="0070C0"/>
                </a:solidFill>
                <a:latin typeface="Times New Roman" pitchFamily="18" charset="0"/>
                <a:cs typeface="Times New Roman" pitchFamily="18" charset="0"/>
              </a:rPr>
              <a:t>4. </a:t>
            </a:r>
            <a:r>
              <a:rPr sz="2800" b="1" dirty="0" err="1">
                <a:solidFill>
                  <a:srgbClr val="0070C0"/>
                </a:solidFill>
                <a:latin typeface="Times New Roman" pitchFamily="18" charset="0"/>
                <a:cs typeface="Times New Roman" pitchFamily="18" charset="0"/>
              </a:rPr>
              <a:t>Streamlit</a:t>
            </a:r>
            <a:r>
              <a:rPr sz="2800" b="1" dirty="0">
                <a:solidFill>
                  <a:srgbClr val="0070C0"/>
                </a:solidFill>
                <a:latin typeface="Times New Roman" pitchFamily="18" charset="0"/>
                <a:cs typeface="Times New Roman" pitchFamily="18" charset="0"/>
              </a:rPr>
              <a:t> Community Cloud: </a:t>
            </a:r>
            <a:r>
              <a:rPr sz="2800" dirty="0">
                <a:solidFill>
                  <a:srgbClr val="002060"/>
                </a:solidFill>
                <a:latin typeface="Times New Roman" pitchFamily="18" charset="0"/>
                <a:cs typeface="Times New Roman" pitchFamily="18" charset="0"/>
              </a:rPr>
              <a:t>24/7 live web deployment</a:t>
            </a:r>
            <a:r>
              <a:rPr sz="2800" dirty="0">
                <a:latin typeface="Times New Roman" pitchFamily="18" charset="0"/>
                <a:cs typeface="Times New Roman" pitchFamily="18" charset="0"/>
              </a:rPr>
              <a: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D95F02"/>
          </a:solidFill>
          <a:ln>
            <a:solidFill>
              <a:srgbClr val="D95F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15663"/>
          </a:xfrm>
          <a:prstGeom prst="rect">
            <a:avLst/>
          </a:prstGeom>
          <a:noFill/>
        </p:spPr>
        <p:txBody>
          <a:bodyPr wrap="square">
            <a:spAutoFit/>
          </a:bodyPr>
          <a:lstStyle/>
          <a:p>
            <a:pPr algn="ctr">
              <a:defRPr sz="2400" b="1">
                <a:solidFill>
                  <a:srgbClr val="1B365D"/>
                </a:solidFill>
              </a:defRPr>
            </a:pPr>
            <a:r>
              <a:rPr sz="3200" dirty="0">
                <a:latin typeface="Times New Roman" pitchFamily="18" charset="0"/>
                <a:cs typeface="Times New Roman" pitchFamily="18" charset="0"/>
              </a:rPr>
              <a:t>Scientific Limitations &amp; Urban Planning Recommendations</a:t>
            </a:r>
          </a:p>
          <a:p>
            <a:pPr algn="ctr">
              <a:defRPr sz="1000" b="1">
                <a:solidFill>
                  <a:srgbClr val="D95F02"/>
                </a:solidFill>
              </a:defRPr>
            </a:pPr>
            <a:r>
              <a:rPr sz="2800" dirty="0">
                <a:latin typeface="Times New Roman" pitchFamily="18" charset="0"/>
                <a:cs typeface="Times New Roman" pitchFamily="18" charset="0"/>
              </a:rPr>
              <a:t>CONCLUSION</a:t>
            </a:r>
          </a:p>
        </p:txBody>
      </p:sp>
      <p:sp>
        <p:nvSpPr>
          <p:cNvPr id="4" name="TextBox 3"/>
          <p:cNvSpPr txBox="1"/>
          <p:nvPr/>
        </p:nvSpPr>
        <p:spPr>
          <a:xfrm>
            <a:off x="746607" y="1381423"/>
            <a:ext cx="10698480" cy="4524315"/>
          </a:xfrm>
          <a:prstGeom prst="rect">
            <a:avLst/>
          </a:prstGeom>
          <a:noFill/>
        </p:spPr>
        <p:txBody>
          <a:bodyPr wrap="square">
            <a:spAutoFit/>
          </a:bodyPr>
          <a:lstStyle/>
          <a:p>
            <a:pPr>
              <a:defRPr sz="1500" b="1">
                <a:solidFill>
                  <a:srgbClr val="1B365D"/>
                </a:solidFill>
              </a:defRPr>
            </a:pPr>
            <a:r>
              <a:rPr sz="2400" dirty="0">
                <a:solidFill>
                  <a:schemeClr val="accent6">
                    <a:lumMod val="50000"/>
                  </a:schemeClr>
                </a:solidFill>
                <a:latin typeface="Times New Roman" pitchFamily="18" charset="0"/>
                <a:cs typeface="Times New Roman" pitchFamily="18" charset="0"/>
              </a:rPr>
              <a:t>Stated Scientific Limitations:</a:t>
            </a:r>
          </a:p>
          <a:p>
            <a:pPr>
              <a:defRPr sz="1200"/>
            </a:pPr>
            <a:r>
              <a:rPr sz="2400" dirty="0">
                <a:solidFill>
                  <a:srgbClr val="002060"/>
                </a:solidFill>
                <a:latin typeface="Times New Roman" pitchFamily="18" charset="0"/>
                <a:cs typeface="Times New Roman" pitchFamily="18" charset="0"/>
              </a:rPr>
              <a:t>• LST </a:t>
            </a:r>
            <a:r>
              <a:rPr sz="2400" dirty="0" err="1">
                <a:solidFill>
                  <a:srgbClr val="002060"/>
                </a:solidFill>
                <a:latin typeface="Times New Roman" pitchFamily="18" charset="0"/>
                <a:cs typeface="Times New Roman" pitchFamily="18" charset="0"/>
              </a:rPr>
              <a:t>vs</a:t>
            </a:r>
            <a:r>
              <a:rPr sz="2400" dirty="0">
                <a:solidFill>
                  <a:srgbClr val="002060"/>
                </a:solidFill>
                <a:latin typeface="Times New Roman" pitchFamily="18" charset="0"/>
                <a:cs typeface="Times New Roman" pitchFamily="18" charset="0"/>
              </a:rPr>
              <a:t> Air Temp: Satellites measure radiometric skin surface temperature (~10:30 AM overpass), not 2 m ambient air temperature.</a:t>
            </a:r>
            <a:br>
              <a:rPr sz="2400" dirty="0">
                <a:solidFill>
                  <a:srgbClr val="002060"/>
                </a:solidFill>
                <a:latin typeface="Times New Roman" pitchFamily="18" charset="0"/>
                <a:cs typeface="Times New Roman" pitchFamily="18" charset="0"/>
              </a:rPr>
            </a:br>
            <a:r>
              <a:rPr sz="2400" dirty="0">
                <a:solidFill>
                  <a:srgbClr val="002060"/>
                </a:solidFill>
                <a:latin typeface="Times New Roman" pitchFamily="18" charset="0"/>
                <a:cs typeface="Times New Roman" pitchFamily="18" charset="0"/>
              </a:rPr>
              <a:t>• Snapshot Timing: Observations reflect mid-morning dry-season overpass conditions.</a:t>
            </a:r>
          </a:p>
          <a:p>
            <a:r>
              <a:rPr sz="2400" dirty="0">
                <a:latin typeface="Times New Roman" pitchFamily="18" charset="0"/>
                <a:cs typeface="Times New Roman" pitchFamily="18" charset="0"/>
              </a:rPr>
              <a:t/>
            </a:r>
            <a:br>
              <a:rPr sz="2400" dirty="0">
                <a:latin typeface="Times New Roman" pitchFamily="18" charset="0"/>
                <a:cs typeface="Times New Roman" pitchFamily="18" charset="0"/>
              </a:rPr>
            </a:br>
            <a:r>
              <a:rPr sz="2400" b="1" dirty="0">
                <a:solidFill>
                  <a:schemeClr val="accent6">
                    <a:lumMod val="50000"/>
                  </a:schemeClr>
                </a:solidFill>
                <a:latin typeface="Times New Roman" pitchFamily="18" charset="0"/>
                <a:cs typeface="Times New Roman" pitchFamily="18" charset="0"/>
              </a:rPr>
              <a:t>Planning Recommendations:</a:t>
            </a:r>
          </a:p>
          <a:p>
            <a:pPr>
              <a:defRPr sz="1200"/>
            </a:pPr>
            <a:r>
              <a:rPr sz="2400" dirty="0">
                <a:solidFill>
                  <a:srgbClr val="002060"/>
                </a:solidFill>
                <a:latin typeface="Times New Roman" pitchFamily="18" charset="0"/>
                <a:cs typeface="Times New Roman" pitchFamily="18" charset="0"/>
              </a:rPr>
              <a:t>• Targeted Urban Greening: Mandate green buffers along expanding road corridors (e.g., </a:t>
            </a:r>
            <a:r>
              <a:rPr sz="2400" dirty="0" err="1">
                <a:solidFill>
                  <a:srgbClr val="002060"/>
                </a:solidFill>
                <a:latin typeface="Times New Roman" pitchFamily="18" charset="0"/>
                <a:cs typeface="Times New Roman" pitchFamily="18" charset="0"/>
              </a:rPr>
              <a:t>Uyo</a:t>
            </a:r>
            <a:r>
              <a:rPr sz="2400" dirty="0">
                <a:solidFill>
                  <a:srgbClr val="002060"/>
                </a:solidFill>
                <a:latin typeface="Times New Roman" pitchFamily="18" charset="0"/>
                <a:cs typeface="Times New Roman" pitchFamily="18" charset="0"/>
              </a:rPr>
              <a:t> Ring Roads).</a:t>
            </a:r>
            <a:br>
              <a:rPr sz="2400" dirty="0">
                <a:solidFill>
                  <a:srgbClr val="002060"/>
                </a:solidFill>
                <a:latin typeface="Times New Roman" pitchFamily="18" charset="0"/>
                <a:cs typeface="Times New Roman" pitchFamily="18" charset="0"/>
              </a:rPr>
            </a:br>
            <a:r>
              <a:rPr sz="2400" dirty="0">
                <a:solidFill>
                  <a:srgbClr val="002060"/>
                </a:solidFill>
                <a:latin typeface="Times New Roman" pitchFamily="18" charset="0"/>
                <a:cs typeface="Times New Roman" pitchFamily="18" charset="0"/>
              </a:rPr>
              <a:t>• Framework Scalability: Operationalize this automated Python framework at Advanced Space Technology And Applications Laboratories for low-cost city monitoring</a:t>
            </a:r>
            <a:r>
              <a:rPr dirty="0">
                <a:solidFill>
                  <a:srgbClr val="002060"/>
                </a:solidFill>
              </a:rPr>
              <a: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D95F02"/>
          </a:solidFill>
          <a:ln>
            <a:solidFill>
              <a:srgbClr val="D95F0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584775"/>
          </a:xfrm>
          <a:prstGeom prst="rect">
            <a:avLst/>
          </a:prstGeom>
          <a:noFill/>
        </p:spPr>
        <p:txBody>
          <a:bodyPr wrap="square">
            <a:spAutoFit/>
          </a:bodyPr>
          <a:lstStyle/>
          <a:p>
            <a:pPr algn="ctr">
              <a:defRPr sz="1000" b="1">
                <a:solidFill>
                  <a:srgbClr val="D95F02"/>
                </a:solidFill>
              </a:defRPr>
            </a:pPr>
            <a:r>
              <a:rPr sz="3200" dirty="0" smtClean="0">
                <a:solidFill>
                  <a:schemeClr val="accent2"/>
                </a:solidFill>
                <a:latin typeface="Times New Roman" pitchFamily="18" charset="0"/>
                <a:cs typeface="Times New Roman" pitchFamily="18" charset="0"/>
              </a:rPr>
              <a:t>REFERENCES</a:t>
            </a:r>
            <a:endParaRPr sz="3200" dirty="0">
              <a:solidFill>
                <a:schemeClr val="accent2"/>
              </a:solidFill>
              <a:latin typeface="Times New Roman" pitchFamily="18" charset="0"/>
              <a:cs typeface="Times New Roman" pitchFamily="18" charset="0"/>
            </a:endParaRPr>
          </a:p>
        </p:txBody>
      </p:sp>
      <p:sp>
        <p:nvSpPr>
          <p:cNvPr id="4" name="TextBox 3"/>
          <p:cNvSpPr txBox="1"/>
          <p:nvPr/>
        </p:nvSpPr>
        <p:spPr>
          <a:xfrm>
            <a:off x="731520" y="1188720"/>
            <a:ext cx="10698480" cy="4893647"/>
          </a:xfrm>
          <a:prstGeom prst="rect">
            <a:avLst/>
          </a:prstGeom>
          <a:noFill/>
        </p:spPr>
        <p:txBody>
          <a:bodyPr wrap="square">
            <a:spAutoFit/>
          </a:bodyPr>
          <a:lstStyle/>
          <a:p>
            <a:pPr>
              <a:defRPr sz="1500" b="1">
                <a:solidFill>
                  <a:srgbClr val="1B365D"/>
                </a:solidFill>
              </a:defRPr>
            </a:pPr>
            <a:r>
              <a:rPr sz="2400" dirty="0" smtClean="0">
                <a:latin typeface="Times New Roman" pitchFamily="18" charset="0"/>
                <a:cs typeface="Times New Roman" pitchFamily="18" charset="0"/>
              </a:rPr>
              <a:t>Literature </a:t>
            </a:r>
            <a:r>
              <a:rPr sz="2400" dirty="0">
                <a:latin typeface="Times New Roman" pitchFamily="18" charset="0"/>
                <a:cs typeface="Times New Roman" pitchFamily="18" charset="0"/>
              </a:rPr>
              <a:t>Citations:</a:t>
            </a:r>
          </a:p>
          <a:p>
            <a:pPr>
              <a:defRPr sz="1100"/>
            </a:pPr>
            <a:r>
              <a:rPr sz="2400" dirty="0">
                <a:latin typeface="Times New Roman" pitchFamily="18" charset="0"/>
                <a:cs typeface="Times New Roman" pitchFamily="18" charset="0"/>
              </a:rPr>
              <a:t>•</a:t>
            </a:r>
            <a:r>
              <a:rPr sz="2400" dirty="0">
                <a:solidFill>
                  <a:schemeClr val="tx2">
                    <a:lumMod val="60000"/>
                    <a:lumOff val="40000"/>
                  </a:schemeClr>
                </a:solidFill>
                <a:latin typeface="Times New Roman" pitchFamily="18" charset="0"/>
                <a:cs typeface="Times New Roman" pitchFamily="18" charset="0"/>
              </a:rPr>
              <a:t> United States Geological Survey (USGS). (2021). </a:t>
            </a:r>
            <a:r>
              <a:rPr sz="2400" dirty="0">
                <a:latin typeface="Times New Roman" pitchFamily="18" charset="0"/>
                <a:cs typeface="Times New Roman" pitchFamily="18" charset="0"/>
              </a:rPr>
              <a:t>Landsat 8-9 Collection 2 Level-2 </a:t>
            </a:r>
            <a:r>
              <a:rPr lang="en-US" sz="2400" dirty="0" smtClean="0">
                <a:latin typeface="Times New Roman" pitchFamily="18" charset="0"/>
                <a:cs typeface="Times New Roman" pitchFamily="18" charset="0"/>
              </a:rPr>
              <a:t>	</a:t>
            </a:r>
            <a:r>
              <a:rPr sz="2400" dirty="0" smtClean="0">
                <a:latin typeface="Times New Roman" pitchFamily="18" charset="0"/>
                <a:cs typeface="Times New Roman" pitchFamily="18" charset="0"/>
              </a:rPr>
              <a:t>Science </a:t>
            </a:r>
            <a:r>
              <a:rPr sz="2400" dirty="0">
                <a:latin typeface="Times New Roman" pitchFamily="18" charset="0"/>
                <a:cs typeface="Times New Roman" pitchFamily="18" charset="0"/>
              </a:rPr>
              <a:t>Products. USGS Earth Resources Observation and Science Center.</a:t>
            </a:r>
            <a:br>
              <a:rPr sz="2400" dirty="0">
                <a:latin typeface="Times New Roman" pitchFamily="18" charset="0"/>
                <a:cs typeface="Times New Roman" pitchFamily="18" charset="0"/>
              </a:rPr>
            </a:br>
            <a:r>
              <a:rPr sz="2400" dirty="0">
                <a:solidFill>
                  <a:schemeClr val="tx2">
                    <a:lumMod val="60000"/>
                    <a:lumOff val="40000"/>
                  </a:schemeClr>
                </a:solidFill>
                <a:latin typeface="Times New Roman" pitchFamily="18" charset="0"/>
                <a:cs typeface="Times New Roman" pitchFamily="18" charset="0"/>
              </a:rPr>
              <a:t>• Tucker, C. J. (1979). </a:t>
            </a:r>
            <a:r>
              <a:rPr sz="2400" dirty="0">
                <a:latin typeface="Times New Roman" pitchFamily="18" charset="0"/>
                <a:cs typeface="Times New Roman" pitchFamily="18" charset="0"/>
              </a:rPr>
              <a:t>Red and photographic infrared linear combinations for </a:t>
            </a:r>
            <a:r>
              <a:rPr lang="en-US" sz="2400" dirty="0" smtClean="0">
                <a:latin typeface="Times New Roman" pitchFamily="18" charset="0"/>
                <a:cs typeface="Times New Roman" pitchFamily="18" charset="0"/>
              </a:rPr>
              <a:t>				</a:t>
            </a:r>
            <a:r>
              <a:rPr sz="2400" dirty="0" smtClean="0">
                <a:latin typeface="Times New Roman" pitchFamily="18" charset="0"/>
                <a:cs typeface="Times New Roman" pitchFamily="18" charset="0"/>
              </a:rPr>
              <a:t>monitoring </a:t>
            </a:r>
            <a:r>
              <a:rPr sz="2400" dirty="0">
                <a:latin typeface="Times New Roman" pitchFamily="18" charset="0"/>
                <a:cs typeface="Times New Roman" pitchFamily="18" charset="0"/>
              </a:rPr>
              <a:t>vegetation. Remote Sensing of Environment, 8(2), 127-150.</a:t>
            </a:r>
            <a:br>
              <a:rPr sz="2400" dirty="0">
                <a:latin typeface="Times New Roman" pitchFamily="18" charset="0"/>
                <a:cs typeface="Times New Roman" pitchFamily="18" charset="0"/>
              </a:rPr>
            </a:br>
            <a:r>
              <a:rPr sz="2400" dirty="0">
                <a:solidFill>
                  <a:schemeClr val="tx2">
                    <a:lumMod val="60000"/>
                    <a:lumOff val="40000"/>
                  </a:schemeClr>
                </a:solidFill>
                <a:latin typeface="Times New Roman" pitchFamily="18" charset="0"/>
                <a:cs typeface="Times New Roman" pitchFamily="18" charset="0"/>
              </a:rPr>
              <a:t>• </a:t>
            </a:r>
            <a:r>
              <a:rPr sz="2400" dirty="0" err="1">
                <a:solidFill>
                  <a:schemeClr val="tx2">
                    <a:lumMod val="60000"/>
                    <a:lumOff val="40000"/>
                  </a:schemeClr>
                </a:solidFill>
                <a:latin typeface="Times New Roman" pitchFamily="18" charset="0"/>
                <a:cs typeface="Times New Roman" pitchFamily="18" charset="0"/>
              </a:rPr>
              <a:t>Zha</a:t>
            </a:r>
            <a:r>
              <a:rPr sz="2400" dirty="0">
                <a:solidFill>
                  <a:schemeClr val="tx2">
                    <a:lumMod val="60000"/>
                    <a:lumOff val="40000"/>
                  </a:schemeClr>
                </a:solidFill>
                <a:latin typeface="Times New Roman" pitchFamily="18" charset="0"/>
                <a:cs typeface="Times New Roman" pitchFamily="18" charset="0"/>
              </a:rPr>
              <a:t>, Y., </a:t>
            </a:r>
            <a:r>
              <a:rPr sz="2400" dirty="0" err="1">
                <a:solidFill>
                  <a:schemeClr val="tx2">
                    <a:lumMod val="60000"/>
                    <a:lumOff val="40000"/>
                  </a:schemeClr>
                </a:solidFill>
                <a:latin typeface="Times New Roman" pitchFamily="18" charset="0"/>
                <a:cs typeface="Times New Roman" pitchFamily="18" charset="0"/>
              </a:rPr>
              <a:t>Gao</a:t>
            </a:r>
            <a:r>
              <a:rPr sz="2400" dirty="0">
                <a:solidFill>
                  <a:schemeClr val="tx2">
                    <a:lumMod val="60000"/>
                    <a:lumOff val="40000"/>
                  </a:schemeClr>
                </a:solidFill>
                <a:latin typeface="Times New Roman" pitchFamily="18" charset="0"/>
                <a:cs typeface="Times New Roman" pitchFamily="18" charset="0"/>
              </a:rPr>
              <a:t>, J., &amp; Ni, S. (2003). </a:t>
            </a:r>
            <a:r>
              <a:rPr sz="2400" dirty="0">
                <a:latin typeface="Times New Roman" pitchFamily="18" charset="0"/>
                <a:cs typeface="Times New Roman" pitchFamily="18" charset="0"/>
              </a:rPr>
              <a:t>Use of normalized difference built-up index in </a:t>
            </a:r>
            <a:r>
              <a:rPr lang="en-US" sz="2400" dirty="0" smtClean="0">
                <a:latin typeface="Times New Roman" pitchFamily="18" charset="0"/>
                <a:cs typeface="Times New Roman" pitchFamily="18" charset="0"/>
              </a:rPr>
              <a:t>	</a:t>
            </a:r>
            <a:r>
              <a:rPr sz="2400" dirty="0" smtClean="0">
                <a:latin typeface="Times New Roman" pitchFamily="18" charset="0"/>
                <a:cs typeface="Times New Roman" pitchFamily="18" charset="0"/>
              </a:rPr>
              <a:t>automatically </a:t>
            </a:r>
            <a:r>
              <a:rPr sz="2400" dirty="0">
                <a:latin typeface="Times New Roman" pitchFamily="18" charset="0"/>
                <a:cs typeface="Times New Roman" pitchFamily="18" charset="0"/>
              </a:rPr>
              <a:t>mapping urban areas from TM imagery. International Journal of </a:t>
            </a:r>
            <a:r>
              <a:rPr lang="en-US" sz="2400" dirty="0" smtClean="0">
                <a:latin typeface="Times New Roman" pitchFamily="18" charset="0"/>
                <a:cs typeface="Times New Roman" pitchFamily="18" charset="0"/>
              </a:rPr>
              <a:t>	</a:t>
            </a:r>
            <a:r>
              <a:rPr sz="2400" dirty="0" smtClean="0">
                <a:latin typeface="Times New Roman" pitchFamily="18" charset="0"/>
                <a:cs typeface="Times New Roman" pitchFamily="18" charset="0"/>
              </a:rPr>
              <a:t>Remote </a:t>
            </a:r>
            <a:r>
              <a:rPr sz="2400" dirty="0">
                <a:latin typeface="Times New Roman" pitchFamily="18" charset="0"/>
                <a:cs typeface="Times New Roman" pitchFamily="18" charset="0"/>
              </a:rPr>
              <a:t>Sensing, 24(3), 583-594.</a:t>
            </a:r>
            <a:br>
              <a:rPr sz="2400" dirty="0">
                <a:latin typeface="Times New Roman" pitchFamily="18" charset="0"/>
                <a:cs typeface="Times New Roman" pitchFamily="18" charset="0"/>
              </a:rPr>
            </a:br>
            <a:r>
              <a:rPr sz="2400" dirty="0">
                <a:solidFill>
                  <a:schemeClr val="tx2">
                    <a:lumMod val="60000"/>
                    <a:lumOff val="40000"/>
                  </a:schemeClr>
                </a:solidFill>
                <a:latin typeface="Times New Roman" pitchFamily="18" charset="0"/>
                <a:cs typeface="Times New Roman" pitchFamily="18" charset="0"/>
              </a:rPr>
              <a:t>• </a:t>
            </a:r>
            <a:r>
              <a:rPr sz="2400" dirty="0" err="1">
                <a:solidFill>
                  <a:schemeClr val="tx2">
                    <a:lumMod val="60000"/>
                    <a:lumOff val="40000"/>
                  </a:schemeClr>
                </a:solidFill>
                <a:latin typeface="Times New Roman" pitchFamily="18" charset="0"/>
                <a:cs typeface="Times New Roman" pitchFamily="18" charset="0"/>
              </a:rPr>
              <a:t>Xu</a:t>
            </a:r>
            <a:r>
              <a:rPr sz="2400" dirty="0">
                <a:solidFill>
                  <a:schemeClr val="tx2">
                    <a:lumMod val="60000"/>
                    <a:lumOff val="40000"/>
                  </a:schemeClr>
                </a:solidFill>
                <a:latin typeface="Times New Roman" pitchFamily="18" charset="0"/>
                <a:cs typeface="Times New Roman" pitchFamily="18" charset="0"/>
              </a:rPr>
              <a:t>, H. (2006).</a:t>
            </a:r>
            <a:r>
              <a:rPr sz="2400" dirty="0">
                <a:latin typeface="Times New Roman" pitchFamily="18" charset="0"/>
                <a:cs typeface="Times New Roman" pitchFamily="18" charset="0"/>
              </a:rPr>
              <a:t> Modification of </a:t>
            </a:r>
            <a:r>
              <a:rPr sz="2400" dirty="0" err="1">
                <a:latin typeface="Times New Roman" pitchFamily="18" charset="0"/>
                <a:cs typeface="Times New Roman" pitchFamily="18" charset="0"/>
              </a:rPr>
              <a:t>normalised</a:t>
            </a:r>
            <a:r>
              <a:rPr sz="2400" dirty="0">
                <a:latin typeface="Times New Roman" pitchFamily="18" charset="0"/>
                <a:cs typeface="Times New Roman" pitchFamily="18" charset="0"/>
              </a:rPr>
              <a:t> difference water index (NDWI) to </a:t>
            </a:r>
            <a:r>
              <a:rPr lang="en-US" sz="2400" dirty="0" smtClean="0">
                <a:latin typeface="Times New Roman" pitchFamily="18" charset="0"/>
                <a:cs typeface="Times New Roman" pitchFamily="18" charset="0"/>
              </a:rPr>
              <a:t>	</a:t>
            </a:r>
            <a:r>
              <a:rPr sz="2400" dirty="0" smtClean="0">
                <a:latin typeface="Times New Roman" pitchFamily="18" charset="0"/>
                <a:cs typeface="Times New Roman" pitchFamily="18" charset="0"/>
              </a:rPr>
              <a:t>enhance </a:t>
            </a:r>
            <a:r>
              <a:rPr sz="2400" dirty="0">
                <a:latin typeface="Times New Roman" pitchFamily="18" charset="0"/>
                <a:cs typeface="Times New Roman" pitchFamily="18" charset="0"/>
              </a:rPr>
              <a:t>open water features in remotely sensed imagery. International Journal of </a:t>
            </a:r>
            <a:r>
              <a:rPr lang="en-US" sz="2400" dirty="0" smtClean="0">
                <a:latin typeface="Times New Roman" pitchFamily="18" charset="0"/>
                <a:cs typeface="Times New Roman" pitchFamily="18" charset="0"/>
              </a:rPr>
              <a:t>	</a:t>
            </a:r>
            <a:r>
              <a:rPr sz="2400" dirty="0" smtClean="0">
                <a:latin typeface="Times New Roman" pitchFamily="18" charset="0"/>
                <a:cs typeface="Times New Roman" pitchFamily="18" charset="0"/>
              </a:rPr>
              <a:t>Remote </a:t>
            </a:r>
            <a:r>
              <a:rPr sz="2400" dirty="0">
                <a:latin typeface="Times New Roman" pitchFamily="18" charset="0"/>
                <a:cs typeface="Times New Roman" pitchFamily="18" charset="0"/>
              </a:rPr>
              <a:t>Sensing, 27(14), 3025-3033.</a:t>
            </a:r>
            <a:br>
              <a:rPr sz="2400" dirty="0">
                <a:latin typeface="Times New Roman" pitchFamily="18" charset="0"/>
                <a:cs typeface="Times New Roman" pitchFamily="18" charset="0"/>
              </a:rPr>
            </a:br>
            <a:r>
              <a:rPr sz="2400" dirty="0">
                <a:solidFill>
                  <a:schemeClr val="tx2">
                    <a:lumMod val="60000"/>
                    <a:lumOff val="40000"/>
                  </a:schemeClr>
                </a:solidFill>
                <a:latin typeface="Times New Roman" pitchFamily="18" charset="0"/>
                <a:cs typeface="Times New Roman" pitchFamily="18" charset="0"/>
              </a:rPr>
              <a:t>• </a:t>
            </a:r>
            <a:r>
              <a:rPr sz="2400" dirty="0" err="1">
                <a:solidFill>
                  <a:schemeClr val="tx2">
                    <a:lumMod val="60000"/>
                    <a:lumOff val="40000"/>
                  </a:schemeClr>
                </a:solidFill>
                <a:latin typeface="Times New Roman" pitchFamily="18" charset="0"/>
                <a:cs typeface="Times New Roman" pitchFamily="18" charset="0"/>
              </a:rPr>
              <a:t>Voogt</a:t>
            </a:r>
            <a:r>
              <a:rPr sz="2400" dirty="0">
                <a:solidFill>
                  <a:schemeClr val="tx2">
                    <a:lumMod val="60000"/>
                    <a:lumOff val="40000"/>
                  </a:schemeClr>
                </a:solidFill>
                <a:latin typeface="Times New Roman" pitchFamily="18" charset="0"/>
                <a:cs typeface="Times New Roman" pitchFamily="18" charset="0"/>
              </a:rPr>
              <a:t>, J. A., &amp; </a:t>
            </a:r>
            <a:r>
              <a:rPr sz="2400" dirty="0" err="1">
                <a:solidFill>
                  <a:schemeClr val="tx2">
                    <a:lumMod val="60000"/>
                    <a:lumOff val="40000"/>
                  </a:schemeClr>
                </a:solidFill>
                <a:latin typeface="Times New Roman" pitchFamily="18" charset="0"/>
                <a:cs typeface="Times New Roman" pitchFamily="18" charset="0"/>
              </a:rPr>
              <a:t>Oke</a:t>
            </a:r>
            <a:r>
              <a:rPr sz="2400" dirty="0">
                <a:solidFill>
                  <a:schemeClr val="tx2">
                    <a:lumMod val="60000"/>
                    <a:lumOff val="40000"/>
                  </a:schemeClr>
                </a:solidFill>
                <a:latin typeface="Times New Roman" pitchFamily="18" charset="0"/>
                <a:cs typeface="Times New Roman" pitchFamily="18" charset="0"/>
              </a:rPr>
              <a:t>, T. R. (2003). </a:t>
            </a:r>
            <a:r>
              <a:rPr sz="2400" dirty="0">
                <a:latin typeface="Times New Roman" pitchFamily="18" charset="0"/>
                <a:cs typeface="Times New Roman" pitchFamily="18" charset="0"/>
              </a:rPr>
              <a:t>Thermal remote sensing of urban climates. </a:t>
            </a:r>
            <a:r>
              <a:rPr lang="en-US" sz="2400" dirty="0" smtClean="0">
                <a:latin typeface="Times New Roman" pitchFamily="18" charset="0"/>
                <a:cs typeface="Times New Roman" pitchFamily="18" charset="0"/>
              </a:rPr>
              <a:t>	</a:t>
            </a:r>
            <a:r>
              <a:rPr sz="2400" dirty="0" smtClean="0">
                <a:latin typeface="Times New Roman" pitchFamily="18" charset="0"/>
                <a:cs typeface="Times New Roman" pitchFamily="18" charset="0"/>
              </a:rPr>
              <a:t>Remote </a:t>
            </a:r>
            <a:r>
              <a:rPr sz="2400" dirty="0">
                <a:latin typeface="Times New Roman" pitchFamily="18" charset="0"/>
                <a:cs typeface="Times New Roman" pitchFamily="18" charset="0"/>
              </a:rPr>
              <a:t>Sensing of Environment, 86(3), 370-384.</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097280"/>
            <a:ext cx="10362895" cy="2011680"/>
          </a:xfrm>
          <a:prstGeom prst="rect">
            <a:avLst/>
          </a:prstGeom>
          <a:noFill/>
        </p:spPr>
        <p:txBody>
          <a:bodyPr wrap="square">
            <a:spAutoFit/>
          </a:bodyPr>
          <a:lstStyle/>
          <a:p>
            <a:pPr algn="ctr">
              <a:defRPr sz="4400" b="1">
                <a:solidFill>
                  <a:srgbClr val="FFFFFF"/>
                </a:solidFill>
              </a:defRPr>
            </a:pPr>
            <a:r>
              <a:t>Thank You!</a:t>
            </a:r>
          </a:p>
          <a:p>
            <a:pPr algn="ctr">
              <a:defRPr sz="2200">
                <a:solidFill>
                  <a:srgbClr val="FFB74D"/>
                </a:solidFill>
              </a:defRPr>
            </a:pPr>
            <a:r>
              <a:t>Questions &amp; Answers</a:t>
            </a:r>
          </a:p>
        </p:txBody>
      </p:sp>
      <p:sp>
        <p:nvSpPr>
          <p:cNvPr id="4" name="Rounded Rectangle 3">
            <a:hlinkClick r:id="rId2"/>
          </p:cNvPr>
          <p:cNvSpPr/>
          <p:nvPr/>
        </p:nvSpPr>
        <p:spPr>
          <a:xfrm>
            <a:off x="2889504" y="3474720"/>
            <a:ext cx="6400800" cy="1005840"/>
          </a:xfrm>
          <a:prstGeom prst="roundRect">
            <a:avLst/>
          </a:prstGeom>
          <a:solidFill>
            <a:srgbClr val="0078D4"/>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rPr dirty="0"/>
              <a:t>🌐 CLICK HERE TO LAUNCH LIVE DASHBOARD</a:t>
            </a:r>
          </a:p>
          <a:p>
            <a:pPr algn="ctr">
              <a:defRPr sz="1100">
                <a:solidFill>
                  <a:srgbClr val="DCE6FF"/>
                </a:solidFill>
              </a:defRPr>
            </a:pPr>
            <a:r>
              <a:rPr dirty="0"/>
              <a:t>https://uyouhi-iayygetbmnholngdvqjmdv.streamlit.app/</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202</TotalTime>
  <Words>518</Words>
  <Application>Microsoft Office PowerPoint</Application>
  <PresentationFormat>Custom</PresentationFormat>
  <Paragraphs>81</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MARIA-GLORY</cp:lastModifiedBy>
  <cp:revision>24</cp:revision>
  <dcterms:created xsi:type="dcterms:W3CDTF">2013-01-27T09:14:16Z</dcterms:created>
  <dcterms:modified xsi:type="dcterms:W3CDTF">2026-10-06T06:47:34Z</dcterms:modified>
  <cp:category/>
</cp:coreProperties>
</file>